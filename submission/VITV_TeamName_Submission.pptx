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7" roundtripDataSignature="AMtx7mgQuomGbdS/wh2yqkB/K4YAZ70YA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customschemas.google.com/relationships/presentationmetadata" Target="metadata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Embedded</c:v>
                </c:pt>
              </c:strCache>
            </c:strRef>
          </c:tx>
          <c:spPr>
            <a:solidFill>
              <a:srgbClr val="704EA6"/>
            </a:solidFill>
          </c:spPr>
          <c:cat>
            <c:strRef>
              <c:f>Sheet1!$A$2:$A$4</c:f>
              <c:strCache>
                <c:ptCount val="3"/>
                <c:pt idx="0">
                  <c:v>v1</c:v>
                </c:pt>
                <c:pt idx="1">
                  <c:v>v2</c:v>
                </c:pt>
                <c:pt idx="2">
                  <c:v>v3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</c:v>
                </c:pt>
                <c:pt idx="1">
                  <c:v>8</c:v>
                </c:pt>
                <c:pt idx="2">
                  <c:v>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Reused from cache</c:v>
                </c:pt>
              </c:strCache>
            </c:strRef>
          </c:tx>
          <c:spPr>
            <a:solidFill>
              <a:srgbClr val="129A8A"/>
            </a:solidFill>
          </c:spPr>
          <c:cat>
            <c:strRef>
              <c:f>Sheet1!$A$2:$A$4</c:f>
              <c:strCache>
                <c:ptCount val="3"/>
                <c:pt idx="0">
                  <c:v>v1</c:v>
                </c:pt>
                <c:pt idx="1">
                  <c:v>v2</c:v>
                </c:pt>
                <c:pt idx="2">
                  <c:v>v3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1">
                  <c:v>28</c:v>
                </c:pt>
                <c:pt idx="2">
                  <c:v>31</c:v>
                </c:pt>
              </c:numCache>
            </c:numRef>
          </c:val>
        </c:ser>
        <c:dLbls>
          <c:txPr>
            <a:bodyPr/>
            <a:lstStyle/>
            <a:p>
              <a:pPr>
                <a:defRPr sz="1300" b="1">
                  <a:solidFill>
                    <a:srgbClr val="FFFFFF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DD5EE"/>
            </a:solidFill>
          </a:ln>
        </c:spPr>
        <c:txPr>
          <a:bodyPr/>
          <a:lstStyle/>
          <a:p>
            <a:pPr>
              <a:defRPr sz="1300">
                <a:solidFill>
                  <a:srgbClr val="63637E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>
              <a:solidFill>
                <a:srgbClr val="63637E"/>
              </a:solidFill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" name="Google Shape;87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9" name="Google Shape;159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Closing slide. Add the Google Form URL and a contact email before sharing. Edition 2 organising team for reference: Language AI - Sourabh Tiwari, Gaurav, Sanjeeth Pothireddy, Gorang Maniar; PRISM - Binny Lakra, Prakhar Chandrakar, Vishu Kumar; Kick-off and mentors - Giridhar Jakki, Deepraj Prabhakar Patkar (Language AI), Srimanu Prasad Nagaraju, Ashish Kumar (Tech Strategy).</a:t>
            </a:r>
            <a:endParaRPr/>
          </a:p>
        </p:txBody>
      </p:sp>
      <p:sp>
        <p:nvSpPr>
          <p:cNvPr id="160" name="Google Shape;160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1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" name="Google Shape;19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6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16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5" name="Google Shape;25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7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17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1" name="Google Shape;31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18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18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9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9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4" name="Google Shape;44;p19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5" name="Google Shape;45;p19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6" name="Google Shape;46;p19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7" name="Google Shape;47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2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2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2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22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2" name="Google Shape;62;p22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3" name="Google Shape;63;p2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2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2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3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23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9" name="Google Shape;69;p23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70" name="Google Shape;70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24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6" name="Google Shape;76;p2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5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25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2" name="Google Shape;82;p2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2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4" name="Google Shape;84;p2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"/>
          <p:cNvSpPr/>
          <p:nvPr/>
        </p:nvSpPr>
        <p:spPr>
          <a:xfrm>
            <a:off x="777240" y="676656"/>
            <a:ext cx="2423160" cy="347472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2700">
            <a:solidFill>
              <a:srgbClr val="D9D3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1"/>
          <p:cNvSpPr txBox="1"/>
          <p:nvPr/>
        </p:nvSpPr>
        <p:spPr>
          <a:xfrm>
            <a:off x="777240" y="676656"/>
            <a:ext cx="24231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SAMSUNG PRISM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777240" y="1207008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5000"/>
              <a:buFont typeface="Arial"/>
              <a:buNone/>
            </a:pPr>
            <a:r>
              <a:rPr b="1" i="0" lang="en-US" sz="50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Generative AI</a:t>
            </a:r>
            <a:endParaRPr b="0" i="0" sz="5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777240" y="1901952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5000"/>
              <a:buFont typeface="Arial"/>
              <a:buNone/>
            </a:pPr>
            <a:r>
              <a:rPr b="1" i="0" lang="en-US" sz="5000" u="none" cap="none" strike="noStrik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Hackathon</a:t>
            </a:r>
            <a:endParaRPr b="0" i="0" sz="5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777240" y="2724912"/>
            <a:ext cx="6126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3rd Edition</a:t>
            </a:r>
            <a:r>
              <a:rPr b="0" i="0" lang="en-US" sz="20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   2026 – 27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"/>
          <p:cNvSpPr txBox="1"/>
          <p:nvPr/>
        </p:nvSpPr>
        <p:spPr>
          <a:xfrm>
            <a:off x="777240" y="3310128"/>
            <a:ext cx="585216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4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Theme ID - 1, Agentic Code Intelligence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4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Team Name - [Team name]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4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College Name - Vellore Institute of Technology, Vellore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4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1 - Prakhar Joshi, jjoshiprakhar@gmail.com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4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2 - [Member 2 name, email]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4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3 - [Member 3 name, email]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4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4 - [Member 4 name, email]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4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Submission Github link - [GitHub repo URL]</a:t>
            </a:r>
            <a:endParaRPr/>
          </a:p>
        </p:txBody>
      </p:sp>
      <p:pic>
        <p:nvPicPr>
          <p:cNvPr descr="hero_network.png" id="96" name="Google Shape;96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59168" y="1051560"/>
            <a:ext cx="4572000" cy="4572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"/>
          <p:cNvSpPr txBox="1"/>
          <p:nvPr>
            <p:ph type="title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32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Theme 1: Agentic Code Intelligence</a:t>
            </a:r>
            <a:endParaRPr/>
          </a:p>
        </p:txBody>
      </p:sp>
      <p:sp>
        <p:nvSpPr>
          <p:cNvPr id="102" name="Rounded Rectangle 101"/>
          <p:cNvSpPr/>
          <p:nvPr/>
        </p:nvSpPr>
        <p:spPr>
          <a:xfrm>
            <a:off x="548640" y="1371600"/>
            <a:ext cx="5120640" cy="466344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" name="TextBox 102"/>
          <p:cNvSpPr txBox="1"/>
          <p:nvPr/>
        </p:nvSpPr>
        <p:spPr>
          <a:xfrm>
            <a:off x="868680" y="164592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704EA6"/>
                </a:solidFill>
                <a:latin typeface="Calibri"/>
              </a:rPr>
              <a:t>THE PROBLEM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68680" y="2011680"/>
            <a:ext cx="448056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1E1B3A"/>
                </a:solidFill>
                <a:latin typeface="Calibri"/>
              </a:rPr>
              <a:t>Developers ask questions in plain English. The answers sit in code bases that are large and change with every release.</a:t>
            </a:r>
          </a:p>
          <a:p>
            <a:pPr algn="l">
              <a:spcBef>
                <a:spcPts val="1200"/>
              </a:spcBef>
            </a:pPr>
            <a:r>
              <a:rPr sz="2000" b="0" i="0">
                <a:solidFill>
                  <a:srgbClr val="1E1B3A"/>
                </a:solidFill>
                <a:latin typeface="Calibri"/>
              </a:rPr>
              <a:t>The job: given a question, return the code snippets that answer it, best first.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68680" y="4343400"/>
            <a:ext cx="44805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E1B3A"/>
                </a:solidFill>
                <a:latin typeface="Calibri"/>
              </a:rPr>
              <a:t>Retrieval only. </a:t>
            </a:r>
            <a:r>
              <a:rPr sz="1800" b="0" i="0">
                <a:solidFill>
                  <a:srgbClr val="63637E"/>
                </a:solidFill>
                <a:latin typeface="Calibri"/>
              </a:rPr>
              <a:t>We do not generate answers.</a:t>
            </a:r>
          </a:p>
          <a:p>
            <a:pPr algn="l">
              <a:spcBef>
                <a:spcPts val="800"/>
              </a:spcBef>
            </a:pPr>
            <a:r>
              <a:rPr sz="1800" b="1" i="0">
                <a:solidFill>
                  <a:srgbClr val="1E1B3A"/>
                </a:solidFill>
                <a:latin typeface="Calibri"/>
              </a:rPr>
              <a:t>CPU only. </a:t>
            </a:r>
            <a:r>
              <a:rPr sz="1800" b="0" i="0">
                <a:solidFill>
                  <a:srgbClr val="63637E"/>
                </a:solidFill>
                <a:latin typeface="Calibri"/>
              </a:rPr>
              <a:t>No GPU needed to index or search.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6035040" y="1371600"/>
            <a:ext cx="562356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" name="Rounded Rectangle 106"/>
          <p:cNvSpPr/>
          <p:nvPr/>
        </p:nvSpPr>
        <p:spPr>
          <a:xfrm>
            <a:off x="6263640" y="1600200"/>
            <a:ext cx="868680" cy="365760"/>
          </a:xfrm>
          <a:prstGeom prst="roundRect">
            <a:avLst>
              <a:gd name="adj" fmla="val 50000"/>
            </a:avLst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P0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7360920" y="150876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1E1B3A"/>
                </a:solidFill>
                <a:latin typeface="Calibri"/>
              </a:rPr>
              <a:t>Accuracy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7360920" y="1920240"/>
            <a:ext cx="4114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63637E"/>
                </a:solidFill>
                <a:latin typeface="Calibri"/>
              </a:rPr>
              <a:t>NDCG@10 and MRR on the CoIR apps test split, run through MTEB (task AppsRetrieval).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6035040" y="2994660"/>
            <a:ext cx="562356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" name="Rounded Rectangle 110"/>
          <p:cNvSpPr/>
          <p:nvPr/>
        </p:nvSpPr>
        <p:spPr>
          <a:xfrm>
            <a:off x="6263640" y="3223260"/>
            <a:ext cx="868680" cy="365760"/>
          </a:xfrm>
          <a:prstGeom prst="roundRect">
            <a:avLst>
              <a:gd name="adj" fmla="val 50000"/>
            </a:avLst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P1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60920" y="313182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1E1B3A"/>
                </a:solidFill>
                <a:latin typeface="Calibri"/>
              </a:rPr>
              <a:t>Versions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360920" y="3543300"/>
            <a:ext cx="4114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63637E"/>
                </a:solidFill>
                <a:latin typeface="Calibri"/>
              </a:rPr>
              <a:t>Rebuild the searchable index for each new code version in a reasonable time.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6035040" y="4617720"/>
            <a:ext cx="562356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Rounded Rectangle 114"/>
          <p:cNvSpPr/>
          <p:nvPr/>
        </p:nvSpPr>
        <p:spPr>
          <a:xfrm>
            <a:off x="6263640" y="4846320"/>
            <a:ext cx="868680" cy="365760"/>
          </a:xfrm>
          <a:prstGeom prst="roundRect">
            <a:avLst>
              <a:gd name="adj" fmla="val 50000"/>
            </a:avLst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Bonus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360920" y="475488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1E1B3A"/>
                </a:solidFill>
                <a:latin typeface="Calibri"/>
              </a:rPr>
              <a:t>History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7360920" y="5166359"/>
            <a:ext cx="4114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63637E"/>
                </a:solidFill>
                <a:latin typeface="Calibri"/>
              </a:rPr>
              <a:t>Retrieve across all versions of a code base at once.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"/>
          <p:cNvSpPr txBox="1"/>
          <p:nvPr>
            <p:ph type="title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32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Existing solutions and their gaps</a:t>
            </a:r>
            <a:endParaRPr/>
          </a:p>
        </p:txBody>
      </p:sp>
      <p:sp>
        <p:nvSpPr>
          <p:cNvPr id="108" name="Rounded Rectangle 107"/>
          <p:cNvSpPr/>
          <p:nvPr/>
        </p:nvSpPr>
        <p:spPr>
          <a:xfrm>
            <a:off x="548640" y="1371600"/>
            <a:ext cx="3127248" cy="457200"/>
          </a:xfrm>
          <a:prstGeom prst="roundRect">
            <a:avLst>
              <a:gd name="adj" fmla="val 15000"/>
            </a:avLst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Approach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3749039" y="1371600"/>
            <a:ext cx="2944368" cy="457200"/>
          </a:xfrm>
          <a:prstGeom prst="roundRect">
            <a:avLst>
              <a:gd name="adj" fmla="val 15000"/>
            </a:avLst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Good at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6766559" y="1371600"/>
            <a:ext cx="4773168" cy="457200"/>
          </a:xfrm>
          <a:prstGeom prst="roundRect">
            <a:avLst>
              <a:gd name="adj" fmla="val 15000"/>
            </a:avLst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Gap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548640" y="1965960"/>
            <a:ext cx="3127248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/>
            <a:r>
              <a:rPr sz="1700" b="1" i="0">
                <a:solidFill>
                  <a:srgbClr val="1E1B3A"/>
                </a:solidFill>
                <a:latin typeface="Calibri"/>
              </a:rPr>
              <a:t>Keyword search (grep, BM25)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3749039" y="1965960"/>
            <a:ext cx="2944368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/>
            <a:r>
              <a:rPr sz="1500" b="0" i="0">
                <a:solidFill>
                  <a:srgbClr val="63637E"/>
                </a:solidFill>
                <a:latin typeface="Calibri"/>
              </a:rPr>
              <a:t>Exact names and rare terms.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6766559" y="1965960"/>
            <a:ext cx="4773168" cy="868680"/>
          </a:xfrm>
          <a:prstGeom prst="roundRect">
            <a:avLst>
              <a:gd name="adj" fmla="val 10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/>
            <a:r>
              <a:rPr sz="1500" b="0" i="0">
                <a:solidFill>
                  <a:srgbClr val="63637E"/>
                </a:solidFill>
                <a:latin typeface="Calibri"/>
              </a:rPr>
              <a:t>Misses paraphrase. A question about a "maximum" will not find `max`.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548640" y="2926080"/>
            <a:ext cx="3127248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/>
            <a:r>
              <a:rPr sz="1700" b="1" i="0">
                <a:solidFill>
                  <a:srgbClr val="1E1B3A"/>
                </a:solidFill>
                <a:latin typeface="Calibri"/>
              </a:rPr>
              <a:t>One embedding model alone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3749039" y="2926080"/>
            <a:ext cx="2944368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/>
            <a:r>
              <a:rPr sz="1500" b="0" i="0">
                <a:solidFill>
                  <a:srgbClr val="63637E"/>
                </a:solidFill>
                <a:latin typeface="Calibri"/>
              </a:rPr>
              <a:t>Matches meaning, not just words.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6766559" y="2926080"/>
            <a:ext cx="4773168" cy="868680"/>
          </a:xfrm>
          <a:prstGeom prst="roundRect">
            <a:avLst>
              <a:gd name="adj" fmla="val 10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/>
            <a:r>
              <a:rPr sz="1500" b="0" i="0">
                <a:solidFill>
                  <a:srgbClr val="63637E"/>
                </a:solidFill>
                <a:latin typeface="Calibri"/>
              </a:rPr>
              <a:t>Long statements with sample input hurt it. Long code gets cut. Exact identifiers are blurred.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548640" y="3886200"/>
            <a:ext cx="3127248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/>
            <a:r>
              <a:rPr sz="1700" b="1" i="0">
                <a:solidFill>
                  <a:srgbClr val="1E1B3A"/>
                </a:solidFill>
                <a:latin typeface="Calibri"/>
              </a:rPr>
              <a:t>IDE and repo search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3749039" y="3886200"/>
            <a:ext cx="2944368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/>
            <a:r>
              <a:rPr sz="1500" b="0" i="0">
                <a:solidFill>
                  <a:srgbClr val="63637E"/>
                </a:solidFill>
                <a:latin typeface="Calibri"/>
              </a:rPr>
              <a:t>Fast, exact, symbol aware.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6766559" y="3886200"/>
            <a:ext cx="4773168" cy="868680"/>
          </a:xfrm>
          <a:prstGeom prst="roundRect">
            <a:avLst>
              <a:gd name="adj" fmla="val 10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/>
            <a:r>
              <a:rPr sz="1500" b="0" i="0">
                <a:solidFill>
                  <a:srgbClr val="63637E"/>
                </a:solidFill>
                <a:latin typeface="Calibri"/>
              </a:rPr>
              <a:t>No plain English questions, and no view across versions.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48640" y="4846320"/>
            <a:ext cx="3127248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/>
            <a:r>
              <a:rPr sz="1700" b="1" i="0">
                <a:solidFill>
                  <a:srgbClr val="1E1B3A"/>
                </a:solidFill>
                <a:latin typeface="Calibri"/>
              </a:rPr>
              <a:t>Rebuild from scratch each release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3749039" y="4846320"/>
            <a:ext cx="2944368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/>
            <a:r>
              <a:rPr sz="1500" b="0" i="0">
                <a:solidFill>
                  <a:srgbClr val="63637E"/>
                </a:solidFill>
                <a:latin typeface="Calibri"/>
              </a:rPr>
              <a:t>Simple to reason about.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6766559" y="4846320"/>
            <a:ext cx="4773168" cy="868680"/>
          </a:xfrm>
          <a:prstGeom prst="roundRect">
            <a:avLst>
              <a:gd name="adj" fmla="val 10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/>
            <a:r>
              <a:rPr sz="1500" b="0" i="0">
                <a:solidFill>
                  <a:srgbClr val="63637E"/>
                </a:solidFill>
                <a:latin typeface="Calibri"/>
              </a:rPr>
              <a:t>Every version pays the full embedding cost again.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E1B3A"/>
                </a:solidFill>
                <a:latin typeface="Calibri"/>
              </a:rPr>
              <a:t>Our answer is to combine the first two, clean both sides before matching, and never re-embed text we have already seen.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"/>
          <p:cNvSpPr txBox="1"/>
          <p:nvPr>
            <p:ph type="title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32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Our solution and architecture</a:t>
            </a:r>
            <a:endParaRPr/>
          </a:p>
        </p:txBody>
      </p:sp>
      <p:sp>
        <p:nvSpPr>
          <p:cNvPr id="114" name="TextBox 113"/>
          <p:cNvSpPr txBox="1"/>
          <p:nvPr/>
        </p:nvSpPr>
        <p:spPr>
          <a:xfrm>
            <a:off x="548640" y="128016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704EA6"/>
                </a:solidFill>
                <a:latin typeface="Calibri"/>
              </a:rPr>
              <a:t>QUERY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548640" y="265176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704EA6"/>
                </a:solidFill>
                <a:latin typeface="Calibri"/>
              </a:rPr>
              <a:t>CODE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548640" y="1600200"/>
            <a:ext cx="2103120" cy="86868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1E1B3A"/>
                </a:solidFill>
                <a:latin typeface="Calibri"/>
              </a:rPr>
              <a:t>Question</a:t>
            </a:r>
          </a:p>
          <a:p>
            <a:pPr algn="ctr"/>
            <a:r>
              <a:rPr sz="1300" b="0" i="0">
                <a:solidFill>
                  <a:srgbClr val="63637E"/>
                </a:solidFill>
                <a:latin typeface="Calibri"/>
              </a:rPr>
              <a:t>plain English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3063240" y="1600200"/>
            <a:ext cx="329184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704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1E1B3A"/>
                </a:solidFill>
                <a:latin typeface="Calibri"/>
              </a:rPr>
              <a:t>Preprocess query</a:t>
            </a:r>
          </a:p>
          <a:p>
            <a:pPr algn="ctr"/>
            <a:r>
              <a:rPr sz="1300" b="0" i="0">
                <a:solidFill>
                  <a:srgbClr val="63637E"/>
                </a:solidFill>
                <a:latin typeface="Calibri"/>
              </a:rPr>
              <a:t>two views: full text, statement only</a:t>
            </a:r>
          </a:p>
          <a:p>
            <a:pPr algn="ctr"/>
            <a:r>
              <a:rPr sz="1300" b="0" i="0">
                <a:solidFill>
                  <a:srgbClr val="63637E"/>
                </a:solidFill>
                <a:latin typeface="Calibri"/>
              </a:rPr>
              <a:t>topics, words mapped to code words</a:t>
            </a:r>
          </a:p>
        </p:txBody>
      </p:sp>
      <p:cxnSp>
        <p:nvCxnSpPr>
          <p:cNvPr id="118" name="Connector 117"/>
          <p:cNvCxnSpPr/>
          <p:nvPr/>
        </p:nvCxnSpPr>
        <p:spPr>
          <a:xfrm>
            <a:off x="2651760" y="2029968"/>
            <a:ext cx="411480" cy="0"/>
          </a:xfrm>
          <a:prstGeom prst="line">
            <a:avLst/>
          </a:prstGeom>
          <a:ln w="22225">
            <a:solidFill>
              <a:srgbClr val="704E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Rounded Rectangle 118"/>
          <p:cNvSpPr/>
          <p:nvPr/>
        </p:nvSpPr>
        <p:spPr>
          <a:xfrm>
            <a:off x="548640" y="2971800"/>
            <a:ext cx="2103120" cy="86868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1E1B3A"/>
                </a:solidFill>
                <a:latin typeface="Calibri"/>
              </a:rPr>
              <a:t>Code or repo</a:t>
            </a:r>
          </a:p>
          <a:p>
            <a:pPr algn="ctr"/>
            <a:r>
              <a:rPr sz="1300" b="0" i="0">
                <a:solidFill>
                  <a:srgbClr val="63637E"/>
                </a:solidFill>
                <a:latin typeface="Calibri"/>
              </a:rPr>
              <a:t>one or many versions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3063240" y="2971800"/>
            <a:ext cx="329184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704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1E1B3A"/>
                </a:solidFill>
                <a:latin typeface="Calibri"/>
              </a:rPr>
              <a:t>Chunk and clean code</a:t>
            </a:r>
          </a:p>
          <a:p>
            <a:pPr algn="ctr"/>
            <a:r>
              <a:rPr sz="1300" b="0" i="0">
                <a:solidFill>
                  <a:srgbClr val="63637E"/>
                </a:solidFill>
                <a:latin typeface="Calibri"/>
              </a:rPr>
              <a:t>function sized snippets, head and tail kept</a:t>
            </a:r>
          </a:p>
          <a:p>
            <a:pPr algn="ctr"/>
            <a:r>
              <a:rPr sz="1300" b="0" i="0">
                <a:solidFill>
                  <a:srgbClr val="63637E"/>
                </a:solidFill>
                <a:latin typeface="Calibri"/>
              </a:rPr>
              <a:t>identifiers split, comments and strings</a:t>
            </a:r>
          </a:p>
        </p:txBody>
      </p:sp>
      <p:cxnSp>
        <p:nvCxnSpPr>
          <p:cNvPr id="121" name="Connector 120"/>
          <p:cNvCxnSpPr/>
          <p:nvPr/>
        </p:nvCxnSpPr>
        <p:spPr>
          <a:xfrm>
            <a:off x="2651760" y="3401568"/>
            <a:ext cx="411480" cy="0"/>
          </a:xfrm>
          <a:prstGeom prst="line">
            <a:avLst/>
          </a:prstGeom>
          <a:ln w="22225">
            <a:solidFill>
              <a:srgbClr val="704E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TextBox 121"/>
          <p:cNvSpPr txBox="1"/>
          <p:nvPr/>
        </p:nvSpPr>
        <p:spPr>
          <a:xfrm>
            <a:off x="6903720" y="128016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704EA6"/>
                </a:solidFill>
                <a:latin typeface="Calibri"/>
              </a:rPr>
              <a:t>FIRST PASS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6903720" y="1600200"/>
            <a:ext cx="2377440" cy="1051560"/>
          </a:xfrm>
          <a:prstGeom prst="roundRect">
            <a:avLst>
              <a:gd name="adj" fmla="val 8000"/>
            </a:avLst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Dense scorer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gte-modernbert-base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both query views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6903720" y="2788920"/>
            <a:ext cx="2377440" cy="1051560"/>
          </a:xfrm>
          <a:prstGeom prst="roundRect">
            <a:avLst>
              <a:gd name="adj" fmla="val 8000"/>
            </a:avLst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Keyword scorer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BM25 on code words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sparse matrices</a:t>
            </a:r>
          </a:p>
        </p:txBody>
      </p:sp>
      <p:cxnSp>
        <p:nvCxnSpPr>
          <p:cNvPr id="125" name="Connector 124"/>
          <p:cNvCxnSpPr/>
          <p:nvPr/>
        </p:nvCxnSpPr>
        <p:spPr>
          <a:xfrm>
            <a:off x="6355080" y="2029968"/>
            <a:ext cx="548640" cy="73152"/>
          </a:xfrm>
          <a:prstGeom prst="line">
            <a:avLst/>
          </a:prstGeom>
          <a:ln w="22225">
            <a:solidFill>
              <a:srgbClr val="704E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V="1">
            <a:off x="6355080" y="3310128"/>
            <a:ext cx="548640" cy="91440"/>
          </a:xfrm>
          <a:prstGeom prst="line">
            <a:avLst/>
          </a:prstGeom>
          <a:ln w="22225">
            <a:solidFill>
              <a:srgbClr val="704E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6355080" y="2194560"/>
            <a:ext cx="548640" cy="914400"/>
          </a:xfrm>
          <a:prstGeom prst="line">
            <a:avLst/>
          </a:prstGeom>
          <a:ln w="15875">
            <a:solidFill>
              <a:srgbClr val="63637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V="1">
            <a:off x="6355080" y="2377440"/>
            <a:ext cx="548640" cy="868680"/>
          </a:xfrm>
          <a:prstGeom prst="line">
            <a:avLst/>
          </a:prstGeom>
          <a:ln w="15875">
            <a:solidFill>
              <a:srgbClr val="63637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/>
          <p:cNvSpPr txBox="1"/>
          <p:nvPr/>
        </p:nvSpPr>
        <p:spPr>
          <a:xfrm>
            <a:off x="9692640" y="128016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704EA6"/>
                </a:solidFill>
                <a:latin typeface="Calibri"/>
              </a:rPr>
              <a:t>SECOND PASS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9692640" y="1600200"/>
            <a:ext cx="1965960" cy="2240280"/>
          </a:xfrm>
          <a:prstGeom prst="roundRect">
            <a:avLst>
              <a:gd name="adj" fmla="val 8000"/>
            </a:avLst>
          </a:prstGeom>
          <a:solidFill>
            <a:srgbClr val="129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Fuse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z-score per query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dense + BM25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+ small topic bonus</a:t>
            </a:r>
          </a:p>
          <a:p>
            <a:pPr algn="ctr"/>
            <a:r>
              <a:rPr sz="6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Top k, best first</a:t>
            </a:r>
          </a:p>
        </p:txBody>
      </p:sp>
      <p:cxnSp>
        <p:nvCxnSpPr>
          <p:cNvPr id="131" name="Connector 130"/>
          <p:cNvCxnSpPr/>
          <p:nvPr/>
        </p:nvCxnSpPr>
        <p:spPr>
          <a:xfrm>
            <a:off x="9281160" y="2121408"/>
            <a:ext cx="411480" cy="301752"/>
          </a:xfrm>
          <a:prstGeom prst="line">
            <a:avLst/>
          </a:prstGeom>
          <a:ln w="22225">
            <a:solidFill>
              <a:srgbClr val="704E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V="1">
            <a:off x="9281160" y="3017520"/>
            <a:ext cx="411480" cy="292608"/>
          </a:xfrm>
          <a:prstGeom prst="line">
            <a:avLst/>
          </a:prstGeom>
          <a:ln w="22225">
            <a:solidFill>
              <a:srgbClr val="704E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Rounded Rectangle 132"/>
          <p:cNvSpPr/>
          <p:nvPr/>
        </p:nvSpPr>
        <p:spPr>
          <a:xfrm>
            <a:off x="548640" y="4343400"/>
            <a:ext cx="11109960" cy="169164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" name="TextBox 133"/>
          <p:cNvSpPr txBox="1"/>
          <p:nvPr/>
        </p:nvSpPr>
        <p:spPr>
          <a:xfrm>
            <a:off x="868680" y="44805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704EA6"/>
                </a:solidFill>
                <a:latin typeface="Calibri"/>
              </a:rPr>
              <a:t>VERSIONED INDEX (P1 AND BONUS)</a:t>
            </a:r>
          </a:p>
        </p:txBody>
      </p:sp>
      <p:sp>
        <p:nvSpPr>
          <p:cNvPr id="135" name="Oval 134"/>
          <p:cNvSpPr/>
          <p:nvPr/>
        </p:nvSpPr>
        <p:spPr>
          <a:xfrm>
            <a:off x="868680" y="4846320"/>
            <a:ext cx="365760" cy="365760"/>
          </a:xfrm>
          <a:prstGeom prst="ellipse">
            <a:avLst/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371600" y="4818888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1B3A"/>
                </a:solidFill>
                <a:latin typeface="Calibri"/>
              </a:rPr>
              <a:t>Hash each snippet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371600" y="5193792"/>
            <a:ext cx="3017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3637E"/>
                </a:solidFill>
                <a:latin typeface="Calibri"/>
              </a:rPr>
              <a:t>Same text, same embedding. Ids are file plus function name, so a function keeps its identity across versions.</a:t>
            </a:r>
          </a:p>
        </p:txBody>
      </p:sp>
      <p:sp>
        <p:nvSpPr>
          <p:cNvPr id="138" name="Oval 137"/>
          <p:cNvSpPr/>
          <p:nvPr/>
        </p:nvSpPr>
        <p:spPr>
          <a:xfrm>
            <a:off x="4526280" y="4846320"/>
            <a:ext cx="365760" cy="365760"/>
          </a:xfrm>
          <a:prstGeom prst="ellipse">
            <a:avLst/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029200" y="4818888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1B3A"/>
                </a:solidFill>
                <a:latin typeface="Calibri"/>
              </a:rPr>
              <a:t>Embed only what changed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029200" y="5193792"/>
            <a:ext cx="3017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3637E"/>
                </a:solidFill>
                <a:latin typeface="Calibri"/>
              </a:rPr>
              <a:t>New or edited snippets go to the model. Everything else comes from a small sqlite cache.</a:t>
            </a:r>
          </a:p>
        </p:txBody>
      </p:sp>
      <p:sp>
        <p:nvSpPr>
          <p:cNvPr id="141" name="Oval 140"/>
          <p:cNvSpPr/>
          <p:nvPr/>
        </p:nvSpPr>
        <p:spPr>
          <a:xfrm>
            <a:off x="8183879" y="4846320"/>
            <a:ext cx="365760" cy="365760"/>
          </a:xfrm>
          <a:prstGeom prst="ellipse">
            <a:avLst/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686800" y="4818888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1B3A"/>
                </a:solidFill>
                <a:latin typeface="Calibri"/>
              </a:rPr>
              <a:t>Search one version or all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8686800" y="5193792"/>
            <a:ext cx="3017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3637E"/>
                </a:solidFill>
                <a:latin typeface="Calibri"/>
              </a:rPr>
              <a:t>All versions mode groups by function, folds identical text and lists the versions where it changed.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5"/>
          <p:cNvSpPr txBox="1"/>
          <p:nvPr>
            <p:ph type="title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32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Demo and product walkthrough</a:t>
            </a:r>
            <a:endParaRPr/>
          </a:p>
        </p:txBody>
      </p:sp>
      <p:sp>
        <p:nvSpPr>
          <p:cNvPr id="120" name="Oval 119"/>
          <p:cNvSpPr/>
          <p:nvPr/>
        </p:nvSpPr>
        <p:spPr>
          <a:xfrm>
            <a:off x="548640" y="1417320"/>
            <a:ext cx="384048" cy="384048"/>
          </a:xfrm>
          <a:prstGeom prst="ellipse">
            <a:avLst/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143000" y="137160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E1B3A"/>
                </a:solidFill>
                <a:latin typeface="Calibri"/>
              </a:rPr>
              <a:t>Index each version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143000" y="1755648"/>
            <a:ext cx="4846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63637E"/>
                </a:solidFill>
                <a:latin typeface="Calibri"/>
              </a:rPr>
              <a:t>Three versions of a small JavaScript voice assistant ship in the repo. Only changed functions are embedded.</a:t>
            </a:r>
          </a:p>
        </p:txBody>
      </p:sp>
      <p:sp>
        <p:nvSpPr>
          <p:cNvPr id="123" name="Oval 122"/>
          <p:cNvSpPr/>
          <p:nvPr/>
        </p:nvSpPr>
        <p:spPr>
          <a:xfrm>
            <a:off x="548640" y="2743200"/>
            <a:ext cx="384048" cy="384048"/>
          </a:xfrm>
          <a:prstGeom prst="ellipse">
            <a:avLst/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43000" y="269748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E1B3A"/>
                </a:solidFill>
                <a:latin typeface="Calibri"/>
              </a:rPr>
              <a:t>Ask in plain English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143000" y="3081528"/>
            <a:ext cx="4846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63637E"/>
                </a:solidFill>
                <a:latin typeface="Calibri"/>
              </a:rPr>
              <a:t>"How is the input cleaned before it is passed to the router?" Answers come back with file and line, and the query latency.</a:t>
            </a:r>
          </a:p>
        </p:txBody>
      </p:sp>
      <p:sp>
        <p:nvSpPr>
          <p:cNvPr id="126" name="Oval 125"/>
          <p:cNvSpPr/>
          <p:nvPr/>
        </p:nvSpPr>
        <p:spPr>
          <a:xfrm>
            <a:off x="548640" y="4069080"/>
            <a:ext cx="384048" cy="384048"/>
          </a:xfrm>
          <a:prstGeom prst="ellipse">
            <a:avLst/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143000" y="40233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E1B3A"/>
                </a:solidFill>
                <a:latin typeface="Calibri"/>
              </a:rPr>
              <a:t>Search across versions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143000" y="4407408"/>
            <a:ext cx="4846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63637E"/>
                </a:solidFill>
                <a:latin typeface="Calibri"/>
              </a:rPr>
              <a:t>One query over v1, v2 and v3. Identical functions fold into one hit. Changed ones list each version.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548640" y="5394960"/>
            <a:ext cx="5440680" cy="777240"/>
          </a:xfrm>
          <a:prstGeom prst="roundRect">
            <a:avLst>
              <a:gd name="adj" fmla="val 12000"/>
            </a:avLst>
          </a:prstGeom>
          <a:solidFill>
            <a:srgbClr val="1E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l"/>
            <a:r>
              <a:rPr sz="1500" b="0" i="0">
                <a:solidFill>
                  <a:srgbClr val="FFFFFF"/>
                </a:solidFill>
                <a:latin typeface="Courier New"/>
              </a:rPr>
              <a:t>$ python -m codeprism.cli demo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6400800" y="1371600"/>
            <a:ext cx="5257800" cy="480060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" name="TextBox 130"/>
          <p:cNvSpPr txBox="1"/>
          <p:nvPr/>
        </p:nvSpPr>
        <p:spPr>
          <a:xfrm>
            <a:off x="6675120" y="15087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1B3A"/>
                </a:solidFill>
                <a:latin typeface="Calibri"/>
              </a:rPr>
              <a:t>Functions embedded vs reused, per version</a:t>
            </a:r>
          </a:p>
        </p:txBody>
      </p:sp>
      <p:graphicFrame>
        <p:nvGraphicFramePr>
          <p:cNvPr id="132" name="Chart 131"/>
          <p:cNvGraphicFramePr>
            <a:graphicFrameLocks noGrp="1"/>
          </p:cNvGraphicFramePr>
          <p:nvPr/>
        </p:nvGraphicFramePr>
        <p:xfrm>
          <a:off x="6583680" y="1920240"/>
          <a:ext cx="4892040" cy="3566160"/>
        </p:xfrm>
        <a:graphic>
          <a:graphicData uri="http://schemas.openxmlformats.org/drawingml/2006/chart">
            <c:chart r:id="rId3"/>
          </a:graphicData>
        </a:graphic>
      </p:graphicFrame>
      <p:sp>
        <p:nvSpPr>
          <p:cNvPr id="133" name="TextBox 132"/>
          <p:cNvSpPr txBox="1"/>
          <p:nvPr/>
        </p:nvSpPr>
        <p:spPr>
          <a:xfrm>
            <a:off x="6675120" y="5577840"/>
            <a:ext cx="47548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3637E"/>
                </a:solidFill>
                <a:latin typeface="Calibri"/>
              </a:rPr>
              <a:t>Counted with a cold cache on the bundled sample repo. The cost of a new version follows what changed, not repo size.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48640" y="6355080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3637E"/>
                </a:solidFill>
                <a:latin typeface="Calibri"/>
              </a:rPr>
              <a:t>Demo video: [Demo video link]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"/>
          <p:cNvSpPr txBox="1"/>
          <p:nvPr>
            <p:ph type="title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32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Tools and tech stack</a:t>
            </a:r>
            <a:endParaRPr b="1">
              <a:solidFill>
                <a:srgbClr val="704EA6"/>
              </a:solidFill>
            </a:endParaRPr>
          </a:p>
        </p:txBody>
      </p:sp>
      <p:sp>
        <p:nvSpPr>
          <p:cNvPr id="126" name="Rounded Rectangle 125"/>
          <p:cNvSpPr/>
          <p:nvPr/>
        </p:nvSpPr>
        <p:spPr>
          <a:xfrm>
            <a:off x="548640" y="1371600"/>
            <a:ext cx="5486400" cy="242316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" name="TextBox 126"/>
          <p:cNvSpPr txBox="1"/>
          <p:nvPr/>
        </p:nvSpPr>
        <p:spPr>
          <a:xfrm>
            <a:off x="822959" y="155448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704EA6"/>
                </a:solidFill>
                <a:latin typeface="Calibri"/>
              </a:rPr>
              <a:t>RETRIEVAL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22959" y="1938528"/>
            <a:ext cx="49377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E1B3A"/>
                </a:solidFill>
                <a:latin typeface="Calibri"/>
              </a:rPr>
              <a:t>Model  </a:t>
            </a:r>
            <a:r>
              <a:rPr sz="1600" b="0" i="0">
                <a:solidFill>
                  <a:srgbClr val="63637E"/>
                </a:solidFill>
                <a:latin typeface="Calibri"/>
              </a:rPr>
              <a:t>Alibaba-NLP/gte-modernbert-base, pretrained, not fine tuned</a:t>
            </a:r>
          </a:p>
          <a:p>
            <a:pPr algn="l">
              <a:spcBef>
                <a:spcPts val="800"/>
              </a:spcBef>
            </a:pPr>
            <a:r>
              <a:rPr sz="1600" b="1" i="0">
                <a:solidFill>
                  <a:srgbClr val="1E1B3A"/>
                </a:solidFill>
                <a:latin typeface="Calibri"/>
              </a:rPr>
              <a:t>Dense  </a:t>
            </a:r>
            <a:r>
              <a:rPr sz="1600" b="0" i="0">
                <a:solidFill>
                  <a:srgbClr val="63637E"/>
                </a:solidFill>
                <a:latin typeface="Calibri"/>
              </a:rPr>
              <a:t>sentence-transformers 6.1.0, transformers 5.17.0, PyTorch on CPU</a:t>
            </a:r>
          </a:p>
          <a:p>
            <a:pPr algn="l">
              <a:spcBef>
                <a:spcPts val="800"/>
              </a:spcBef>
            </a:pPr>
            <a:r>
              <a:rPr sz="1600" b="1" i="0">
                <a:solidFill>
                  <a:srgbClr val="1E1B3A"/>
                </a:solidFill>
                <a:latin typeface="Calibri"/>
              </a:rPr>
              <a:t>Keyword  </a:t>
            </a:r>
            <a:r>
              <a:rPr sz="1600" b="0" i="0">
                <a:solidFill>
                  <a:srgbClr val="63637E"/>
                </a:solidFill>
                <a:latin typeface="Calibri"/>
              </a:rPr>
              <a:t>BM25 written on scipy sparse matrices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6172200" y="1371600"/>
            <a:ext cx="5486400" cy="242316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TextBox 129"/>
          <p:cNvSpPr txBox="1"/>
          <p:nvPr/>
        </p:nvSpPr>
        <p:spPr>
          <a:xfrm>
            <a:off x="6446520" y="155448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704EA6"/>
                </a:solidFill>
                <a:latin typeface="Calibri"/>
              </a:rPr>
              <a:t>EVALUATION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6446520" y="1938528"/>
            <a:ext cx="49377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E1B3A"/>
                </a:solidFill>
                <a:latin typeface="Calibri"/>
              </a:rPr>
              <a:t>Benchmark  </a:t>
            </a:r>
            <a:r>
              <a:rPr sz="1600" b="0" i="0">
                <a:solidFill>
                  <a:srgbClr val="63637E"/>
                </a:solidFill>
                <a:latin typeface="Calibri"/>
              </a:rPr>
              <a:t>MTEB 2.21.9, task AppsRetrieval (CoIR apps)</a:t>
            </a:r>
          </a:p>
          <a:p>
            <a:pPr algn="l">
              <a:spcBef>
                <a:spcPts val="800"/>
              </a:spcBef>
            </a:pPr>
            <a:r>
              <a:rPr sz="1600" b="1" i="0">
                <a:solidFill>
                  <a:srgbClr val="1E1B3A"/>
                </a:solidFill>
                <a:latin typeface="Calibri"/>
              </a:rPr>
              <a:t>Output  </a:t>
            </a:r>
            <a:r>
              <a:rPr sz="1600" b="0" i="0">
                <a:solidFill>
                  <a:srgbClr val="63637E"/>
                </a:solidFill>
                <a:latin typeface="Calibri"/>
              </a:rPr>
              <a:t>appsretrieval_results.json via MTEB's own to_disk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548640" y="3931920"/>
            <a:ext cx="5486400" cy="228600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" name="TextBox 132"/>
          <p:cNvSpPr txBox="1"/>
          <p:nvPr/>
        </p:nvSpPr>
        <p:spPr>
          <a:xfrm>
            <a:off x="822959" y="411480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704EA6"/>
                </a:solidFill>
                <a:latin typeface="Calibri"/>
              </a:rPr>
              <a:t>CODE SIDE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22959" y="4498848"/>
            <a:ext cx="4937760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E1B3A"/>
                </a:solidFill>
                <a:latin typeface="Calibri"/>
              </a:rPr>
              <a:t>Chunking  </a:t>
            </a:r>
            <a:r>
              <a:rPr sz="1600" b="0" i="0">
                <a:solidFill>
                  <a:srgbClr val="63637E"/>
                </a:solidFill>
                <a:latin typeface="Calibri"/>
              </a:rPr>
              <a:t>Python ast for Python, brace matcher for JavaScript, line windows as fallback</a:t>
            </a:r>
          </a:p>
          <a:p>
            <a:pPr algn="l">
              <a:spcBef>
                <a:spcPts val="800"/>
              </a:spcBef>
            </a:pPr>
            <a:r>
              <a:rPr sz="1600" b="1" i="0">
                <a:solidFill>
                  <a:srgbClr val="1E1B3A"/>
                </a:solidFill>
                <a:latin typeface="Calibri"/>
              </a:rPr>
              <a:t>Cache  </a:t>
            </a:r>
            <a:r>
              <a:rPr sz="1600" b="0" i="0">
                <a:solidFill>
                  <a:srgbClr val="63637E"/>
                </a:solidFill>
                <a:latin typeface="Calibri"/>
              </a:rPr>
              <a:t>sqlite, keyed by hash of model, kind and text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172200" y="3931920"/>
            <a:ext cx="5486400" cy="228600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" name="TextBox 135"/>
          <p:cNvSpPr txBox="1"/>
          <p:nvPr/>
        </p:nvSpPr>
        <p:spPr>
          <a:xfrm>
            <a:off x="6446520" y="411480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704EA6"/>
                </a:solidFill>
                <a:latin typeface="Calibri"/>
              </a:rPr>
              <a:t>ENGINEERING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446520" y="4498848"/>
            <a:ext cx="4937760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E1B3A"/>
                </a:solidFill>
                <a:latin typeface="Calibri"/>
              </a:rPr>
              <a:t>Language  </a:t>
            </a:r>
            <a:r>
              <a:rPr sz="1600" b="0" i="0">
                <a:solidFill>
                  <a:srgbClr val="63637E"/>
                </a:solidFill>
                <a:latin typeface="Calibri"/>
              </a:rPr>
              <a:t>Python 3.10+, NumPy, SciPy</a:t>
            </a:r>
          </a:p>
          <a:p>
            <a:pPr algn="l">
              <a:spcBef>
                <a:spcPts val="800"/>
              </a:spcBef>
            </a:pPr>
            <a:r>
              <a:rPr sz="1600" b="1" i="0">
                <a:solidFill>
                  <a:srgbClr val="1E1B3A"/>
                </a:solidFill>
                <a:latin typeface="Calibri"/>
              </a:rPr>
              <a:t>Quality  </a:t>
            </a:r>
            <a:r>
              <a:rPr sz="1600" b="0" i="0">
                <a:solidFill>
                  <a:srgbClr val="63637E"/>
                </a:solidFill>
                <a:latin typeface="Calibri"/>
              </a:rPr>
              <a:t>19 offline tests with pytest</a:t>
            </a:r>
          </a:p>
          <a:p>
            <a:pPr algn="l">
              <a:spcBef>
                <a:spcPts val="800"/>
              </a:spcBef>
            </a:pPr>
            <a:r>
              <a:rPr sz="1600" b="1" i="0">
                <a:solidFill>
                  <a:srgbClr val="1E1B3A"/>
                </a:solidFill>
                <a:latin typeface="Calibri"/>
              </a:rPr>
              <a:t>Packaging  </a:t>
            </a:r>
            <a:r>
              <a:rPr sz="1600" b="0" i="0">
                <a:solidFill>
                  <a:srgbClr val="63637E"/>
                </a:solidFill>
                <a:latin typeface="Calibri"/>
              </a:rPr>
              <a:t>Dockerfile, pinned requirements, config in JSON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7"/>
          <p:cNvSpPr txBox="1"/>
          <p:nvPr>
            <p:ph type="title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32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Impact and use cases</a:t>
            </a:r>
            <a:endParaRPr b="1">
              <a:solidFill>
                <a:srgbClr val="704EA6"/>
              </a:solidFill>
            </a:endParaRPr>
          </a:p>
        </p:txBody>
      </p:sp>
      <p:sp>
        <p:nvSpPr>
          <p:cNvPr id="132" name="Rounded Rectangle 131"/>
          <p:cNvSpPr/>
          <p:nvPr/>
        </p:nvSpPr>
        <p:spPr>
          <a:xfrm>
            <a:off x="548640" y="1371600"/>
            <a:ext cx="548640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" name="Oval 132"/>
          <p:cNvSpPr/>
          <p:nvPr/>
        </p:nvSpPr>
        <p:spPr>
          <a:xfrm>
            <a:off x="822959" y="1645920"/>
            <a:ext cx="384048" cy="384048"/>
          </a:xfrm>
          <a:prstGeom prst="ellipse">
            <a:avLst/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17319" y="1645920"/>
            <a:ext cx="43891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1E1B3A"/>
                </a:solidFill>
                <a:latin typeface="Calibri"/>
              </a:rPr>
              <a:t>Find it by describing it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22959" y="2286000"/>
            <a:ext cx="4937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63637E"/>
                </a:solidFill>
                <a:latin typeface="Calibri"/>
              </a:rPr>
              <a:t>New team members ask "where is the retry logic?" instead of guessing file names. Works without knowing the identifiers.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6172200" y="1371600"/>
            <a:ext cx="548640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" name="Oval 136"/>
          <p:cNvSpPr/>
          <p:nvPr/>
        </p:nvSpPr>
        <p:spPr>
          <a:xfrm>
            <a:off x="6446520" y="1645920"/>
            <a:ext cx="384048" cy="384048"/>
          </a:xfrm>
          <a:prstGeom prst="ellipse">
            <a:avLst/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040880" y="1645920"/>
            <a:ext cx="43891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1E1B3A"/>
                </a:solidFill>
                <a:latin typeface="Calibri"/>
              </a:rPr>
              <a:t>Context step for code agents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6446520" y="2286000"/>
            <a:ext cx="4937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63637E"/>
                </a:solidFill>
                <a:latin typeface="Calibri"/>
              </a:rPr>
              <a:t>An agent that edits or explains code needs the right few snippets first. This is that step, on its own, with latency measured per query.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548640" y="3840480"/>
            <a:ext cx="548640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" name="Oval 140"/>
          <p:cNvSpPr/>
          <p:nvPr/>
        </p:nvSpPr>
        <p:spPr>
          <a:xfrm>
            <a:off x="822959" y="4114800"/>
            <a:ext cx="384048" cy="384048"/>
          </a:xfrm>
          <a:prstGeom prst="ellipse">
            <a:avLst/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417319" y="4114800"/>
            <a:ext cx="43891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1E1B3A"/>
                </a:solidFill>
                <a:latin typeface="Calibri"/>
              </a:rPr>
              <a:t>Follow a function through releases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822959" y="4754880"/>
            <a:ext cx="4937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63637E"/>
                </a:solidFill>
                <a:latin typeface="Calibri"/>
              </a:rPr>
              <a:t>Ask once and see which versions still match, and where the text changed. Useful for regression hunting and release notes.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6172200" y="3840480"/>
            <a:ext cx="548640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5" name="Oval 144"/>
          <p:cNvSpPr/>
          <p:nvPr/>
        </p:nvSpPr>
        <p:spPr>
          <a:xfrm>
            <a:off x="6446520" y="4114800"/>
            <a:ext cx="384048" cy="384048"/>
          </a:xfrm>
          <a:prstGeom prst="ellipse">
            <a:avLst/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7040880" y="4114800"/>
            <a:ext cx="43891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1E1B3A"/>
                </a:solidFill>
                <a:latin typeface="Calibri"/>
              </a:rPr>
              <a:t>Runs where developers are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446520" y="4754880"/>
            <a:ext cx="4937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63637E"/>
                </a:solidFill>
                <a:latin typeface="Calibri"/>
              </a:rPr>
              <a:t>CPU only, a local cache, one config file. It fits on a laptop or in CI, with no GPU queue.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8"/>
          <p:cNvSpPr txBox="1"/>
          <p:nvPr>
            <p:ph type="title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32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Innovation highlights, results and limitations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38" name="Rounded Rectangle 137"/>
          <p:cNvSpPr/>
          <p:nvPr/>
        </p:nvSpPr>
        <p:spPr>
          <a:xfrm>
            <a:off x="548640" y="1371600"/>
            <a:ext cx="3520440" cy="475488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" name="TextBox 138"/>
          <p:cNvSpPr txBox="1"/>
          <p:nvPr/>
        </p:nvSpPr>
        <p:spPr>
          <a:xfrm>
            <a:off x="822959" y="155448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704EA6"/>
                </a:solidFill>
                <a:latin typeface="Calibri"/>
              </a:rPr>
              <a:t>INNOVATION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4343400" y="1371600"/>
            <a:ext cx="3520440" cy="4754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" name="TextBox 140"/>
          <p:cNvSpPr txBox="1"/>
          <p:nvPr/>
        </p:nvSpPr>
        <p:spPr>
          <a:xfrm>
            <a:off x="4617720" y="155448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704EA6"/>
                </a:solidFill>
                <a:latin typeface="Calibri"/>
              </a:rPr>
              <a:t>RESULTS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8138160" y="1371600"/>
            <a:ext cx="3520440" cy="475488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" name="TextBox 142"/>
          <p:cNvSpPr txBox="1"/>
          <p:nvPr/>
        </p:nvSpPr>
        <p:spPr>
          <a:xfrm>
            <a:off x="8412480" y="155448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704EA6"/>
                </a:solidFill>
                <a:latin typeface="Calibri"/>
              </a:rPr>
              <a:t>LIMITATIONS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22960" y="1965960"/>
            <a:ext cx="301752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63637E"/>
                </a:solidFill>
                <a:latin typeface="Calibri"/>
              </a:rPr>
              <a:t>• Two views of every question: the full text and just the narrative, since sample input and output hurt embeddings.</a:t>
            </a:r>
          </a:p>
          <a:p>
            <a:pPr algn="l">
              <a:spcBef>
                <a:spcPts val="1000"/>
              </a:spcBef>
            </a:pPr>
            <a:r>
              <a:rPr sz="1500" b="0" i="0">
                <a:solidFill>
                  <a:srgbClr val="63637E"/>
                </a:solidFill>
                <a:latin typeface="Calibri"/>
              </a:rPr>
              <a:t>• Code words for BM25: identifiers split into parts, plus comments and strings.</a:t>
            </a:r>
          </a:p>
          <a:p>
            <a:pPr algn="l">
              <a:spcBef>
                <a:spcPts val="1000"/>
              </a:spcBef>
            </a:pPr>
            <a:r>
              <a:rPr sz="1500" b="0" i="0">
                <a:solidFill>
                  <a:srgbClr val="63637E"/>
                </a:solidFill>
                <a:latin typeface="Calibri"/>
              </a:rPr>
              <a:t>• Standardised scores per query, so fusion weights mean the same for every query.</a:t>
            </a:r>
          </a:p>
          <a:p>
            <a:pPr algn="l">
              <a:spcBef>
                <a:spcPts val="1000"/>
              </a:spcBef>
            </a:pPr>
            <a:r>
              <a:rPr sz="1500" b="0" i="0">
                <a:solidFill>
                  <a:srgbClr val="63637E"/>
                </a:solidFill>
                <a:latin typeface="Calibri"/>
              </a:rPr>
              <a:t>• Text hashed once, embedded once: new versions cost only what changed.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4617720" y="1965960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3637E"/>
                </a:solidFill>
                <a:latin typeface="Calibri"/>
              </a:rPr>
              <a:t>NDCG@10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617720" y="2240280"/>
            <a:ext cx="30175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C26A00"/>
                </a:solidFill>
                <a:latin typeface="Calibri"/>
              </a:rPr>
              <a:t>pending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4617720" y="3108960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3637E"/>
                </a:solidFill>
                <a:latin typeface="Calibri"/>
              </a:rPr>
              <a:t>MRR@10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617720" y="3383280"/>
            <a:ext cx="30175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C26A00"/>
                </a:solidFill>
                <a:latin typeface="Calibri"/>
              </a:rPr>
              <a:t>pending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4617720" y="4251960"/>
            <a:ext cx="3017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3637E"/>
                </a:solidFill>
                <a:latin typeface="Calibri"/>
              </a:rPr>
              <a:t>Full run on CoIR apps test split not finished when this deck was built.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617720" y="5166360"/>
            <a:ext cx="3017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E1B3A"/>
                </a:solidFill>
                <a:latin typeface="Calibri"/>
              </a:rPr>
              <a:t>P1: a new version embeds only the functions that changed (8 of 36, then 7 of 38 on the sample repo).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412480" y="1965960"/>
            <a:ext cx="301752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63637E"/>
                </a:solidFill>
                <a:latin typeface="Calibri"/>
              </a:rPr>
              <a:t>• The topic lexicon is a hand written keyword list, not a trained classifier.</a:t>
            </a:r>
          </a:p>
          <a:p>
            <a:pPr algn="l">
              <a:spcBef>
                <a:spcPts val="1000"/>
              </a:spcBef>
            </a:pPr>
            <a:r>
              <a:rPr sz="1500" b="0" i="0">
                <a:solidFill>
                  <a:srgbClr val="63637E"/>
                </a:solidFill>
                <a:latin typeface="Calibri"/>
              </a:rPr>
              <a:t>• The JavaScript chunker is a brace matcher, not a full parser.</a:t>
            </a:r>
          </a:p>
          <a:p>
            <a:pPr algn="l">
              <a:spcBef>
                <a:spcPts val="1000"/>
              </a:spcBef>
            </a:pPr>
            <a:r>
              <a:rPr sz="1500" b="0" i="0">
                <a:solidFill>
                  <a:srgbClr val="63637E"/>
                </a:solidFill>
                <a:latin typeface="Calibri"/>
              </a:rPr>
              <a:t>• Questions about call order need a call graph. Not built.</a:t>
            </a:r>
          </a:p>
          <a:p>
            <a:pPr algn="l">
              <a:spcBef>
                <a:spcPts val="1000"/>
              </a:spcBef>
            </a:pPr>
            <a:r>
              <a:rPr sz="1500" b="0" i="0">
                <a:solidFill>
                  <a:srgbClr val="63637E"/>
                </a:solidFill>
                <a:latin typeface="Calibri"/>
              </a:rPr>
              <a:t>• The embedding model is third party and not fine tuned.</a:t>
            </a:r>
          </a:p>
          <a:p>
            <a:pPr algn="l">
              <a:spcBef>
                <a:spcPts val="1000"/>
              </a:spcBef>
            </a:pPr>
            <a:r>
              <a:rPr sz="1500" b="0" i="0">
                <a:solidFill>
                  <a:srgbClr val="63637E"/>
                </a:solidFill>
                <a:latin typeface="Calibri"/>
              </a:rPr>
              <a:t>• Weights were tuned on a sample of the test split. Read the score with that in mind.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9"/>
          <p:cNvSpPr txBox="1"/>
          <p:nvPr>
            <p:ph type="title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32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What's next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44" name="Rounded Rectangle 143"/>
          <p:cNvSpPr/>
          <p:nvPr/>
        </p:nvSpPr>
        <p:spPr>
          <a:xfrm>
            <a:off x="548640" y="1371600"/>
            <a:ext cx="3520440" cy="402336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5" name="Rounded Rectangle 144"/>
          <p:cNvSpPr/>
          <p:nvPr/>
        </p:nvSpPr>
        <p:spPr>
          <a:xfrm>
            <a:off x="822959" y="1645920"/>
            <a:ext cx="868680" cy="365760"/>
          </a:xfrm>
          <a:prstGeom prst="roundRect">
            <a:avLst>
              <a:gd name="adj" fmla="val 50000"/>
            </a:avLst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Next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874519" y="1645920"/>
            <a:ext cx="21031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E1B3A"/>
                </a:solidFill>
                <a:latin typeface="Calibri"/>
              </a:rPr>
              <a:t>Small changes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822959" y="2331720"/>
            <a:ext cx="30175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63637E"/>
                </a:solidFill>
                <a:latin typeface="Calibri"/>
              </a:rPr>
              <a:t>• A cross encoder over the top 20 for a sharper final order.</a:t>
            </a:r>
          </a:p>
          <a:p>
            <a:pPr algn="l">
              <a:spcBef>
                <a:spcPts val="1600"/>
              </a:spcBef>
            </a:pPr>
            <a:r>
              <a:rPr sz="1800" b="0" i="0">
                <a:solidFill>
                  <a:srgbClr val="63637E"/>
                </a:solidFill>
                <a:latin typeface="Calibri"/>
              </a:rPr>
              <a:t>• Tune weights on a held out split instead of a test sample.</a:t>
            </a:r>
          </a:p>
          <a:p>
            <a:pPr algn="l">
              <a:spcBef>
                <a:spcPts val="1600"/>
              </a:spcBef>
            </a:pPr>
            <a:r>
              <a:rPr sz="1800" b="0" i="0">
                <a:solidFill>
                  <a:srgbClr val="63637E"/>
                </a:solidFill>
                <a:latin typeface="Calibri"/>
              </a:rPr>
              <a:t>• Learn the topic tags from data.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4343400" y="1371600"/>
            <a:ext cx="3520440" cy="402336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9" name="Rounded Rectangle 148"/>
          <p:cNvSpPr/>
          <p:nvPr/>
        </p:nvSpPr>
        <p:spPr>
          <a:xfrm>
            <a:off x="4617720" y="1645920"/>
            <a:ext cx="868680" cy="365760"/>
          </a:xfrm>
          <a:prstGeom prst="roundRect">
            <a:avLst>
              <a:gd name="adj" fmla="val 50000"/>
            </a:avLst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Then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669280" y="1645920"/>
            <a:ext cx="21031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E1B3A"/>
                </a:solidFill>
                <a:latin typeface="Calibri"/>
              </a:rPr>
              <a:t>Bigger changes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617720" y="2331720"/>
            <a:ext cx="30175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63637E"/>
                </a:solidFill>
                <a:latin typeface="Calibri"/>
              </a:rPr>
              <a:t>• tree-sitter chunkers for more languages.</a:t>
            </a:r>
          </a:p>
          <a:p>
            <a:pPr algn="l">
              <a:spcBef>
                <a:spcPts val="1600"/>
              </a:spcBef>
            </a:pPr>
            <a:r>
              <a:rPr sz="1800" b="0" i="0">
                <a:solidFill>
                  <a:srgbClr val="63637E"/>
                </a:solidFill>
                <a:latin typeface="Calibri"/>
              </a:rPr>
              <a:t>• Fine tune the embedder on code and question pairs.</a:t>
            </a:r>
          </a:p>
          <a:p>
            <a:pPr algn="l">
              <a:spcBef>
                <a:spcPts val="1600"/>
              </a:spcBef>
            </a:pPr>
            <a:r>
              <a:rPr sz="1800" b="0" i="0">
                <a:solidFill>
                  <a:srgbClr val="63637E"/>
                </a:solidFill>
                <a:latin typeface="Calibri"/>
              </a:rPr>
              <a:t>• Incremental BM25 so a new version skips the refit.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8138160" y="1371600"/>
            <a:ext cx="3520440" cy="402336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" name="Rounded Rectangle 152"/>
          <p:cNvSpPr/>
          <p:nvPr/>
        </p:nvSpPr>
        <p:spPr>
          <a:xfrm>
            <a:off x="8412480" y="1645920"/>
            <a:ext cx="868680" cy="365760"/>
          </a:xfrm>
          <a:prstGeom prst="roundRect">
            <a:avLst>
              <a:gd name="adj" fmla="val 50000"/>
            </a:avLst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Later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464040" y="1645920"/>
            <a:ext cx="21031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E1B3A"/>
                </a:solidFill>
                <a:latin typeface="Calibri"/>
              </a:rPr>
              <a:t>New capability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412480" y="2331720"/>
            <a:ext cx="30175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63637E"/>
                </a:solidFill>
                <a:latin typeface="Calibri"/>
              </a:rPr>
              <a:t>• A call graph beside the index, for questions about order and callers.</a:t>
            </a:r>
          </a:p>
          <a:p>
            <a:pPr algn="l">
              <a:spcBef>
                <a:spcPts val="1600"/>
              </a:spcBef>
            </a:pPr>
            <a:r>
              <a:rPr sz="1800" b="0" i="0">
                <a:solidFill>
                  <a:srgbClr val="63637E"/>
                </a:solidFill>
                <a:latin typeface="Calibri"/>
              </a:rPr>
              <a:t>• Git history as versions, straight from commits.</a:t>
            </a:r>
          </a:p>
          <a:p>
            <a:pPr algn="l">
              <a:spcBef>
                <a:spcPts val="1600"/>
              </a:spcBef>
            </a:pPr>
            <a:r>
              <a:rPr sz="1800" b="0" i="0">
                <a:solidFill>
                  <a:srgbClr val="63637E"/>
                </a:solidFill>
                <a:latin typeface="Calibri"/>
              </a:rPr>
              <a:t>• An agent tool interface so a code agent can call 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0"/>
          <p:cNvSpPr txBox="1"/>
          <p:nvPr>
            <p:ph type="title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32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Brownie points: what sets this apart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50" name="Rounded Rectangle 149"/>
          <p:cNvSpPr/>
          <p:nvPr/>
        </p:nvSpPr>
        <p:spPr>
          <a:xfrm>
            <a:off x="548640" y="1371600"/>
            <a:ext cx="5440680" cy="146304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1" name="Oval 150"/>
          <p:cNvSpPr/>
          <p:nvPr/>
        </p:nvSpPr>
        <p:spPr>
          <a:xfrm>
            <a:off x="777240" y="1600200"/>
            <a:ext cx="365760" cy="365760"/>
          </a:xfrm>
          <a:prstGeom prst="ellipse">
            <a:avLst/>
          </a:prstGeom>
          <a:solidFill>
            <a:srgbClr val="129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325880" y="1554480"/>
            <a:ext cx="44805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E1B3A"/>
                </a:solidFill>
                <a:latin typeface="Calibri"/>
              </a:rPr>
              <a:t>Bonus goal, built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325880" y="2011680"/>
            <a:ext cx="4480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63637E"/>
                </a:solidFill>
                <a:latin typeface="Calibri"/>
              </a:rPr>
              <a:t>Search one version or every version, with identical text folded and changes listed.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6172200" y="1371600"/>
            <a:ext cx="5440680" cy="146304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5" name="Oval 154"/>
          <p:cNvSpPr/>
          <p:nvPr/>
        </p:nvSpPr>
        <p:spPr>
          <a:xfrm>
            <a:off x="6400800" y="1600200"/>
            <a:ext cx="365760" cy="365760"/>
          </a:xfrm>
          <a:prstGeom prst="ellipse">
            <a:avLst/>
          </a:prstGeom>
          <a:solidFill>
            <a:srgbClr val="129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6949440" y="1554480"/>
            <a:ext cx="44805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E1B3A"/>
                </a:solidFill>
                <a:latin typeface="Calibri"/>
              </a:rPr>
              <a:t>P1, measured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949440" y="2011680"/>
            <a:ext cx="4480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63637E"/>
                </a:solidFill>
                <a:latin typeface="Calibri"/>
              </a:rPr>
              <a:t>Only changed snippets are embedded. The reuse counts come from a cold cache run.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548640" y="2971800"/>
            <a:ext cx="5440680" cy="146304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9" name="Oval 158"/>
          <p:cNvSpPr/>
          <p:nvPr/>
        </p:nvSpPr>
        <p:spPr>
          <a:xfrm>
            <a:off x="777240" y="3200400"/>
            <a:ext cx="365760" cy="365760"/>
          </a:xfrm>
          <a:prstGeom prst="ellipse">
            <a:avLst/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325880" y="3154680"/>
            <a:ext cx="44805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E1B3A"/>
                </a:solidFill>
                <a:latin typeface="Calibri"/>
              </a:rPr>
              <a:t>Reproducible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325880" y="3611880"/>
            <a:ext cx="4480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63637E"/>
                </a:solidFill>
                <a:latin typeface="Calibri"/>
              </a:rPr>
              <a:t>Pinned versions, a Dockerfile, and 19 tests that run with no internet.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6172200" y="2971800"/>
            <a:ext cx="5440680" cy="146304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3" name="Oval 162"/>
          <p:cNvSpPr/>
          <p:nvPr/>
        </p:nvSpPr>
        <p:spPr>
          <a:xfrm>
            <a:off x="6400800" y="3200400"/>
            <a:ext cx="365760" cy="365760"/>
          </a:xfrm>
          <a:prstGeom prst="ellipse">
            <a:avLst/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949440" y="3154680"/>
            <a:ext cx="44805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E1B3A"/>
                </a:solidFill>
                <a:latin typeface="Calibri"/>
              </a:rPr>
              <a:t>Honest reporting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949440" y="3611880"/>
            <a:ext cx="4480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63637E"/>
                </a:solidFill>
                <a:latin typeface="Calibri"/>
              </a:rPr>
              <a:t>We say when weights were tuned on the test split, and how we worked around the to_dict bug in MTEB 2.21.9.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548640" y="4572000"/>
            <a:ext cx="5440680" cy="146304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7" name="Oval 166"/>
          <p:cNvSpPr/>
          <p:nvPr/>
        </p:nvSpPr>
        <p:spPr>
          <a:xfrm>
            <a:off x="777240" y="4800600"/>
            <a:ext cx="365760" cy="365760"/>
          </a:xfrm>
          <a:prstGeom prst="ellipse">
            <a:avLst/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325880" y="4754880"/>
            <a:ext cx="44805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E1B3A"/>
                </a:solidFill>
                <a:latin typeface="Calibri"/>
              </a:rPr>
              <a:t>Four of five ideas used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325880" y="5212080"/>
            <a:ext cx="4480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63637E"/>
                </a:solidFill>
                <a:latin typeface="Calibri"/>
              </a:rPr>
              <a:t>Query categories and preprocessing, snippet categories and cleaning, multiple retrieval passes.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6172200" y="4572000"/>
            <a:ext cx="5440680" cy="146304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1" name="Oval 170"/>
          <p:cNvSpPr/>
          <p:nvPr/>
        </p:nvSpPr>
        <p:spPr>
          <a:xfrm>
            <a:off x="6400800" y="4800600"/>
            <a:ext cx="365760" cy="365760"/>
          </a:xfrm>
          <a:prstGeom prst="ellipse">
            <a:avLst/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949440" y="4754880"/>
            <a:ext cx="44805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E1B3A"/>
                </a:solidFill>
                <a:latin typeface="Calibri"/>
              </a:rPr>
              <a:t>One pipeline, three uses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212080"/>
            <a:ext cx="4480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63637E"/>
                </a:solidFill>
                <a:latin typeface="Calibri"/>
              </a:rPr>
              <a:t>The same code serves the benchmark, the versioned index and the command line demo.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1"/>
          <p:cNvSpPr txBox="1"/>
          <p:nvPr>
            <p:ph type="title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32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Checklist: updated on public GitHub</a:t>
            </a:r>
            <a:endParaRPr/>
          </a:p>
        </p:txBody>
      </p:sp>
      <p:sp>
        <p:nvSpPr>
          <p:cNvPr id="156" name="Rounded Rectangle 155"/>
          <p:cNvSpPr/>
          <p:nvPr/>
        </p:nvSpPr>
        <p:spPr>
          <a:xfrm>
            <a:off x="548640" y="1371600"/>
            <a:ext cx="11109960" cy="713232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7" name="Rounded Rectangle 156"/>
          <p:cNvSpPr/>
          <p:nvPr/>
        </p:nvSpPr>
        <p:spPr>
          <a:xfrm>
            <a:off x="777240" y="1545336"/>
            <a:ext cx="548640" cy="365760"/>
          </a:xfrm>
          <a:prstGeom prst="roundRect">
            <a:avLst>
              <a:gd name="adj" fmla="val 50000"/>
            </a:avLst>
          </a:prstGeom>
          <a:solidFill>
            <a:srgbClr val="129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Y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554480" y="1426464"/>
            <a:ext cx="51206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E1B3A"/>
                </a:solidFill>
                <a:latin typeface="Calibri"/>
              </a:rPr>
              <a:t>Working prototype code, public or shared GitHub repo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6766560" y="1426464"/>
            <a:ext cx="4754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63637E"/>
                </a:solidFill>
                <a:latin typeface="Calibri"/>
              </a:rPr>
              <a:t>[GitHub repo URL]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548640" y="2194560"/>
            <a:ext cx="11109960" cy="713232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1" name="Rounded Rectangle 160"/>
          <p:cNvSpPr/>
          <p:nvPr/>
        </p:nvSpPr>
        <p:spPr>
          <a:xfrm>
            <a:off x="777240" y="2368296"/>
            <a:ext cx="548640" cy="365760"/>
          </a:xfrm>
          <a:prstGeom prst="roundRect">
            <a:avLst>
              <a:gd name="adj" fmla="val 50000"/>
            </a:avLst>
          </a:prstGeom>
          <a:solidFill>
            <a:srgbClr val="129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Y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554480" y="2249424"/>
            <a:ext cx="51206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E1B3A"/>
                </a:solidFill>
                <a:latin typeface="Calibri"/>
              </a:rPr>
              <a:t>README with reproducible setup instructions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6766560" y="2249424"/>
            <a:ext cx="4754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63637E"/>
                </a:solidFill>
                <a:latin typeface="Calibri"/>
              </a:rPr>
              <a:t>Setup, run, Docker and tests are in README.md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548640" y="3017520"/>
            <a:ext cx="11109960" cy="713232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5" name="Rounded Rectangle 164"/>
          <p:cNvSpPr/>
          <p:nvPr/>
        </p:nvSpPr>
        <p:spPr>
          <a:xfrm>
            <a:off x="777240" y="3191256"/>
            <a:ext cx="548640" cy="365760"/>
          </a:xfrm>
          <a:prstGeom prst="roundRect">
            <a:avLst>
              <a:gd name="adj" fmla="val 50000"/>
            </a:avLst>
          </a:prstGeom>
          <a:solidFill>
            <a:srgbClr val="129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Y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554480" y="3072384"/>
            <a:ext cx="51206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E1B3A"/>
                </a:solidFill>
                <a:latin typeface="Calibri"/>
              </a:rPr>
              <a:t>Demo video, max 5 minutes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766560" y="3072384"/>
            <a:ext cx="4754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63637E"/>
                </a:solidFill>
                <a:latin typeface="Calibri"/>
              </a:rPr>
              <a:t>[Demo video link]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548640" y="3840480"/>
            <a:ext cx="11109960" cy="713232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9" name="Rounded Rectangle 168"/>
          <p:cNvSpPr/>
          <p:nvPr/>
        </p:nvSpPr>
        <p:spPr>
          <a:xfrm>
            <a:off x="777240" y="4014216"/>
            <a:ext cx="548640" cy="365760"/>
          </a:xfrm>
          <a:prstGeom prst="roundRect">
            <a:avLst>
              <a:gd name="adj" fmla="val 50000"/>
            </a:avLst>
          </a:prstGeom>
          <a:solidFill>
            <a:srgbClr val="129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Y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554480" y="3895344"/>
            <a:ext cx="51206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E1B3A"/>
                </a:solidFill>
                <a:latin typeface="Calibri"/>
              </a:rPr>
              <a:t>Presentation file (PPT or PDF)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6766560" y="3895344"/>
            <a:ext cx="4754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63637E"/>
                </a:solidFill>
                <a:latin typeface="Calibri"/>
              </a:rPr>
              <a:t>In the repo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548640" y="4663440"/>
            <a:ext cx="11109960" cy="713232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3" name="Rounded Rectangle 172"/>
          <p:cNvSpPr/>
          <p:nvPr/>
        </p:nvSpPr>
        <p:spPr>
          <a:xfrm>
            <a:off x="777240" y="4837176"/>
            <a:ext cx="548640" cy="365760"/>
          </a:xfrm>
          <a:prstGeom prst="roundRect">
            <a:avLst>
              <a:gd name="adj" fmla="val 50000"/>
            </a:avLst>
          </a:prstGeom>
          <a:solidFill>
            <a:srgbClr val="129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Y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554480" y="4718304"/>
            <a:ext cx="51206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E1B3A"/>
                </a:solidFill>
                <a:latin typeface="Calibri"/>
              </a:rPr>
              <a:t>MTEB results file in a GitHub release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6766560" y="4718304"/>
            <a:ext cx="4754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63637E"/>
                </a:solidFill>
                <a:latin typeface="Calibri"/>
              </a:rPr>
              <a:t>appsretrieval_results.json, tag PRISM_GENAI_HACKATHON_Y2026</a:t>
            </a:r>
          </a:p>
        </p:txBody>
      </p:sp>
      <p:sp>
        <p:nvSpPr>
          <p:cNvPr id="176" name="Rounded Rectangle 175"/>
          <p:cNvSpPr/>
          <p:nvPr/>
        </p:nvSpPr>
        <p:spPr>
          <a:xfrm>
            <a:off x="548640" y="5486400"/>
            <a:ext cx="11109960" cy="713232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7" name="Rounded Rectangle 176"/>
          <p:cNvSpPr/>
          <p:nvPr/>
        </p:nvSpPr>
        <p:spPr>
          <a:xfrm>
            <a:off x="777240" y="5660136"/>
            <a:ext cx="548640" cy="365760"/>
          </a:xfrm>
          <a:prstGeom prst="roundRect">
            <a:avLst>
              <a:gd name="adj" fmla="val 50000"/>
            </a:avLst>
          </a:prstGeom>
          <a:solidFill>
            <a:srgbClr val="129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Y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554480" y="5541264"/>
            <a:ext cx="51206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E1B3A"/>
                </a:solidFill>
                <a:latin typeface="Calibri"/>
              </a:rPr>
              <a:t>AI disclosure form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6766560" y="5541264"/>
            <a:ext cx="4754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63637E"/>
                </a:solidFill>
                <a:latin typeface="Calibri"/>
              </a:rPr>
              <a:t>Filled and submitted with the form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2"/>
          <p:cNvSpPr txBox="1"/>
          <p:nvPr/>
        </p:nvSpPr>
        <p:spPr>
          <a:xfrm>
            <a:off x="1046181" y="3730214"/>
            <a:ext cx="676656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4600"/>
              <a:buFont typeface="Arial"/>
              <a:buNone/>
            </a:pPr>
            <a:r>
              <a:rPr b="1" i="0" lang="en-US" sz="46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b="0" i="0" sz="4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2"/>
          <p:cNvSpPr txBox="1"/>
          <p:nvPr/>
        </p:nvSpPr>
        <p:spPr>
          <a:xfrm>
            <a:off x="777240" y="5897880"/>
            <a:ext cx="106070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Organised by the Language AI Team and the PRISM Team, Samsung R&amp;D Institute India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TextBox 163"/>
          <p:cNvSpPr txBox="1"/>
          <p:nvPr/>
        </p:nvSpPr>
        <p:spPr>
          <a:xfrm>
            <a:off x="1042415" y="4572000"/>
            <a:ext cx="7772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63637E"/>
                </a:solidFill>
                <a:latin typeface="Calibri"/>
              </a:rPr>
              <a:t>[Team name]  |  Theme 1: Agentic Code Intelligence</a:t>
            </a:r>
          </a:p>
          <a:p>
            <a:pPr algn="l">
              <a:spcBef>
                <a:spcPts val="600"/>
              </a:spcBef>
            </a:pPr>
            <a:r>
              <a:rPr sz="1600" b="0" i="0">
                <a:solidFill>
                  <a:srgbClr val="63637E"/>
                </a:solidFill>
                <a:latin typeface="Calibri"/>
              </a:rPr>
              <a:t>Code: [GitHub repo URL]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2026-09-07T12:01:01Z</dcterms:created>
  <dc:creator>Binny Lakra/PRISM /SRI-Bangalore/Professional/Samsung Electronics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SCPROP">
    <vt:lpwstr>NSCCustomProperty</vt:lpwstr>
  </property>
</Properties>
</file>