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Embedded</c:v>
                </c:pt>
              </c:strCache>
            </c:strRef>
          </c:tx>
          <c:spPr>
            <a:solidFill>
              <a:srgbClr val="704EA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8</c:v>
                </c:pt>
                <c:pt idx="2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BC3-4F67-8C68-7ED72252E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Reused from cache</c:v>
                </c:pt>
              </c:strCache>
            </c:strRef>
          </c:tx>
          <c:spPr>
            <a:solidFill>
              <a:srgbClr val="129A8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v1</c:v>
                </c:pt>
                <c:pt idx="1">
                  <c:v>v2</c:v>
                </c:pt>
                <c:pt idx="2">
                  <c:v>v3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28</c:v>
                </c:pt>
                <c:pt idx="2">
                  <c:v>31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BC3-4F67-8C68-7ED72252EB2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DD5EE"/>
            </a:solidFill>
          </a:ln>
        </c:spPr>
        <c:txPr>
          <a:bodyPr/>
          <a:lstStyle/>
          <a:p>
            <a:pPr>
              <a:defRPr sz="1300">
                <a:solidFill>
                  <a:srgbClr val="63637E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63637E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- 1, Agentic Code Intelligence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Procrastinators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Vellore Institute of Technology, Vellore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1 - Prakhar Joshi, jjoshiprakhar@gmail.com</a:t>
            </a:r>
            <a:endParaRPr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 – </a:t>
            </a:r>
            <a:r>
              <a:rPr lang="fi-FI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Sudiksha Kathuria, kathuriasudiksha@gmail.com</a:t>
            </a:r>
            <a:endParaRPr lang="fi-FI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3 -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Navya Ghatta, navyaghatta@gmail.com</a:t>
            </a:r>
            <a:endParaRPr lang="en-US" dirty="0"/>
          </a:p>
          <a:p>
            <a:pPr marL="177800" indent="-177800">
              <a:spcBef>
                <a:spcPts val="500"/>
              </a:spcBef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 – </a:t>
            </a:r>
            <a:r>
              <a:rPr lang="en-US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Nihit Garg, nihitgarg2005@gmail.com</a:t>
            </a:r>
            <a:endParaRPr lang="en-US" sz="14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4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4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https://github.com/pj4real/prism-code-retrieval</a:t>
            </a:r>
            <a:endParaRPr dirty="0"/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 1: Agentic Code Intelligence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548640" y="1371600"/>
            <a:ext cx="5120640" cy="46634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68680" y="164592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704EA6"/>
                </a:solidFill>
                <a:latin typeface="Calibri"/>
              </a:rPr>
              <a:t>THE PROBLEM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8680" y="201168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1E1B3A"/>
                </a:solidFill>
                <a:latin typeface="Calibri"/>
              </a:rPr>
              <a:t>Developers ask questions in plain English. The answers sit in code bases that are large and change with every release.</a:t>
            </a:r>
          </a:p>
          <a:p>
            <a:pPr algn="l">
              <a:spcBef>
                <a:spcPts val="1200"/>
              </a:spcBef>
            </a:pPr>
            <a:r>
              <a:rPr sz="2000" b="0" i="0">
                <a:solidFill>
                  <a:srgbClr val="1E1B3A"/>
                </a:solidFill>
                <a:latin typeface="Calibri"/>
              </a:rPr>
              <a:t>The job: given a question, return the code snippets that answer it, best first.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8680" y="4343400"/>
            <a:ext cx="4480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Retrieval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We do not generate answers.</a:t>
            </a:r>
          </a:p>
          <a:p>
            <a:pPr algn="l">
              <a:spcBef>
                <a:spcPts val="800"/>
              </a:spcBef>
            </a:pPr>
            <a:r>
              <a:rPr sz="1800" b="1" i="0">
                <a:solidFill>
                  <a:srgbClr val="1E1B3A"/>
                </a:solidFill>
                <a:latin typeface="Calibri"/>
              </a:rPr>
              <a:t>CPU only. </a:t>
            </a:r>
            <a:r>
              <a:rPr sz="1800" b="0" i="0">
                <a:solidFill>
                  <a:srgbClr val="63637E"/>
                </a:solidFill>
                <a:latin typeface="Calibri"/>
              </a:rPr>
              <a:t>No GPU needed to index or search.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35040" y="137160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6263640" y="160020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60920" y="15087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Accuracy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60920" y="192024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NDCG@10 and MRR on the CoIR apps test split, run through MTEB (task AppsRetrieval).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0" y="299466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263640" y="322326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60920" y="313182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Versions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60920" y="354330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Rebuild the searchable index for each new code version in a reasonable time.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35040" y="4617720"/>
            <a:ext cx="5623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6263640" y="48463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Bonus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60920" y="475488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History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60920" y="5166359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Retrieve across all versions of a code base at once.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and their gaps</a:t>
            </a:r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548640" y="1371600"/>
            <a:ext cx="312724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749039" y="1371600"/>
            <a:ext cx="29443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766559" y="1371600"/>
            <a:ext cx="4773168" cy="457200"/>
          </a:xfrm>
          <a:prstGeom prst="roundRect">
            <a:avLst>
              <a:gd name="adj" fmla="val 15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8640" y="196596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Keyword search (grep, BM25)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749039" y="196596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Exact names and rare terms.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766559" y="196596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Misses paraphrase. A question about a "maximum" will not find `max`.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48640" y="292608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One embedding model alone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749039" y="292608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Matches meaning, not just words.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66559" y="292608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Long statements with sample input hurt it. Long code gets cut. Exact identifiers are blurred.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8640" y="388620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IDE and repo search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49039" y="388620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Fast, exact, symbol aware.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59" y="388620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No plain English questions, and no view across versions.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48640" y="4846320"/>
            <a:ext cx="312724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Rebuild from scratch each release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49039" y="4846320"/>
            <a:ext cx="294436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Simple to reason about.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59" y="4846320"/>
            <a:ext cx="4773168" cy="868680"/>
          </a:xfrm>
          <a:prstGeom prst="roundRect">
            <a:avLst>
              <a:gd name="adj" fmla="val 10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Every version pays the full embedding cost again.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Our answer is to combine the first two, clean both sides before matching, and never re-embed text we have already seen.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 and architecture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12801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QUERY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CODE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16002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Question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plain English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063240" y="16002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Preprocess query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two views: full text, statement only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topics, words mapped to code words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2651760" y="20299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548640" y="297180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Code or repo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one or many versions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063240" y="2971800"/>
            <a:ext cx="32918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1E1B3A"/>
                </a:solidFill>
                <a:latin typeface="Calibri"/>
              </a:rPr>
              <a:t>Chunk and clean code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function sized snippets, head and tail kept</a:t>
            </a:r>
          </a:p>
          <a:p>
            <a:pPr algn="ctr"/>
            <a:r>
              <a:rPr sz="1300" b="0" i="0">
                <a:solidFill>
                  <a:srgbClr val="63637E"/>
                </a:solidFill>
                <a:latin typeface="Calibri"/>
              </a:rPr>
              <a:t>identifiers split, comments and strings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2651760" y="3401568"/>
            <a:ext cx="411480" cy="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6903720" y="128016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FIRST PASS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03720" y="160020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Dense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bge-base-en-v1.5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both query views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903720" y="278892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Keyword scorer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BM25 on code words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sparse matrices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355080" y="2029968"/>
            <a:ext cx="548640" cy="731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355080" y="3310128"/>
            <a:ext cx="548640" cy="91440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355080" y="2194560"/>
            <a:ext cx="548640" cy="91440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355080" y="2377440"/>
            <a:ext cx="548640" cy="868680"/>
          </a:xfrm>
          <a:prstGeom prst="line">
            <a:avLst/>
          </a:prstGeom>
          <a:ln w="15875">
            <a:solidFill>
              <a:srgbClr val="6363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692640" y="128016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SECOND PASS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692640" y="1600200"/>
            <a:ext cx="1965960" cy="2240280"/>
          </a:xfrm>
          <a:prstGeom prst="roundRect">
            <a:avLst>
              <a:gd name="adj" fmla="val 8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Fuse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z-score per query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dense + BM25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+ small topic bonus</a:t>
            </a:r>
          </a:p>
          <a:p>
            <a:pPr algn="ctr"/>
            <a:endParaRPr sz="1300" b="0" i="0">
              <a:solidFill>
                <a:srgbClr val="FFFFFF"/>
              </a:solidFill>
              <a:latin typeface="Calibri"/>
            </a:endParaRP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Top k, best first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9281160" y="2121408"/>
            <a:ext cx="411480" cy="301752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281160" y="3017520"/>
            <a:ext cx="411480" cy="292608"/>
          </a:xfrm>
          <a:prstGeom prst="line">
            <a:avLst/>
          </a:prstGeom>
          <a:ln w="22225">
            <a:solidFill>
              <a:srgbClr val="704E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548640" y="4343400"/>
            <a:ext cx="11109960" cy="16916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68680" y="4480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704EA6"/>
                </a:solidFill>
                <a:latin typeface="Calibri"/>
              </a:rPr>
              <a:t>VERSIONED INDEX (P1 AND BONUS)</a:t>
            </a:r>
          </a:p>
        </p:txBody>
      </p:sp>
      <p:sp>
        <p:nvSpPr>
          <p:cNvPr id="135" name="Oval 134"/>
          <p:cNvSpPr/>
          <p:nvPr/>
        </p:nvSpPr>
        <p:spPr>
          <a:xfrm>
            <a:off x="8686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3716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Hash each snippet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16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Same text, same embedding. Ids are file plus function name, so a function keeps its identity across versions.</a:t>
            </a:r>
          </a:p>
        </p:txBody>
      </p:sp>
      <p:sp>
        <p:nvSpPr>
          <p:cNvPr id="138" name="Oval 137"/>
          <p:cNvSpPr/>
          <p:nvPr/>
        </p:nvSpPr>
        <p:spPr>
          <a:xfrm>
            <a:off x="4526280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Embed only what changed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0292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New or edited snippets go to the model. Everything else comes from a small sqlite cache.</a:t>
            </a:r>
          </a:p>
        </p:txBody>
      </p:sp>
      <p:sp>
        <p:nvSpPr>
          <p:cNvPr id="141" name="Oval 140"/>
          <p:cNvSpPr/>
          <p:nvPr/>
        </p:nvSpPr>
        <p:spPr>
          <a:xfrm>
            <a:off x="8183879" y="484632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686800" y="481888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Search one version or all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686800" y="5193792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All versions mode groups by function, folds identical text and lists the versions where it 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and product walkthrough</a:t>
            </a:r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43000" y="13716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Index each version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43000" y="175564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Three versions of a small JavaScript voice assistant ship in the repo. Only changed functions are embedded.</a:t>
            </a:r>
          </a:p>
        </p:txBody>
      </p:sp>
      <p:sp>
        <p:nvSpPr>
          <p:cNvPr id="123" name="Oval 122"/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43000" y="26974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Ask in plain English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43000" y="308152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"How is the input cleaned before it is passed to the router?" Answers come back with file and line, and the query latency.</a:t>
            </a:r>
          </a:p>
        </p:txBody>
      </p:sp>
      <p:sp>
        <p:nvSpPr>
          <p:cNvPr id="126" name="Oval 125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43000" y="40233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E1B3A"/>
                </a:solidFill>
                <a:latin typeface="Calibri"/>
              </a:rPr>
              <a:t>Search across versions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43000" y="4407408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One query over v1, v2 and v3. Identical functions fold into one hit. Changed ones list each version.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" y="5394960"/>
            <a:ext cx="5440680" cy="777240"/>
          </a:xfrm>
          <a:prstGeom prst="roundRect">
            <a:avLst>
              <a:gd name="adj" fmla="val 12000"/>
            </a:avLst>
          </a:prstGeom>
          <a:solidFill>
            <a:srgbClr val="1E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dirty="0">
                <a:solidFill>
                  <a:srgbClr val="FFFFFF"/>
                </a:solidFill>
                <a:latin typeface="Courier New"/>
              </a:rPr>
              <a:t>$ python -m </a:t>
            </a:r>
            <a:r>
              <a:rPr sz="1500" b="0" i="0" dirty="0" err="1">
                <a:solidFill>
                  <a:srgbClr val="FFFFFF"/>
                </a:solidFill>
                <a:latin typeface="Courier New"/>
              </a:rPr>
              <a:t>codeprism.cli</a:t>
            </a:r>
            <a:r>
              <a:rPr sz="1500" b="0" i="0" dirty="0">
                <a:solidFill>
                  <a:srgbClr val="FFFFFF"/>
                </a:solidFill>
                <a:latin typeface="Courier New"/>
              </a:rPr>
              <a:t> demo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0" y="1371600"/>
            <a:ext cx="5257800" cy="48006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675120" y="150876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E1B3A"/>
                </a:solidFill>
                <a:latin typeface="Calibri"/>
              </a:rPr>
              <a:t>Functions embedded vs reused, per version</a:t>
            </a:r>
          </a:p>
        </p:txBody>
      </p:sp>
      <p:graphicFrame>
        <p:nvGraphicFramePr>
          <p:cNvPr id="132" name="Chart 131"/>
          <p:cNvGraphicFramePr>
            <a:graphicFrameLocks noGrp="1"/>
          </p:cNvGraphicFramePr>
          <p:nvPr/>
        </p:nvGraphicFramePr>
        <p:xfrm>
          <a:off x="6583680" y="1920240"/>
          <a:ext cx="489204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3" name="TextBox 132"/>
          <p:cNvSpPr txBox="1"/>
          <p:nvPr/>
        </p:nvSpPr>
        <p:spPr>
          <a:xfrm>
            <a:off x="6675120" y="55778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Counted with a cold cache on the bundled sample repo. The cost of a new version follows what changed, not repo size.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48640" y="6355080"/>
            <a:ext cx="110642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>
                <a:solidFill>
                  <a:schemeClr val="tx1"/>
                </a:solidFill>
                <a:latin typeface="Calibri"/>
              </a:rPr>
              <a:t>Demo video: https://drive.google.com/file/d/1FeSi1SZcfN0EnjjiQCgMNgergOchNoTL/view?usp=sharing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54864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822959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RETRIEVAL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59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Model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BAAI/bge-base-en-v1.5, pretrained, not fine tuned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Dense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sentence-transformers 6.1.0, transformers 5.17.0, PyTorch on CPU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Keyword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BM25 written on scipy sparse matrices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172200" y="1371600"/>
            <a:ext cx="5486400" cy="24231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6446520" y="1554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EVALUATION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46520" y="1938528"/>
            <a:ext cx="49377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Benchmark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MTEB 2.21.9, task AppsRetrieval (CoIR apps)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Output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appsretrieval_results.json via MTEB's own to_disk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864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2959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CODE SIDE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59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Chunking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ast for Python, brace matcher for JavaScript, line windows as fallback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Cache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sqlite, keyed by hash of model, kind and text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72200" y="39319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6446520" y="41148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ENGINEERING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46520" y="4498848"/>
            <a:ext cx="49377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E1B3A"/>
                </a:solidFill>
                <a:latin typeface="Calibri"/>
              </a:rPr>
              <a:t>Language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Python 3.10+, NumPy, SciPy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Quality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19 offline tests with pytest</a:t>
            </a:r>
          </a:p>
          <a:p>
            <a:pPr algn="l">
              <a:spcBef>
                <a:spcPts val="800"/>
              </a:spcBef>
            </a:pPr>
            <a:r>
              <a:rPr sz="1600" b="1" i="0">
                <a:solidFill>
                  <a:srgbClr val="1E1B3A"/>
                </a:solidFill>
                <a:latin typeface="Calibri"/>
              </a:rPr>
              <a:t>Packaging  </a:t>
            </a:r>
            <a:r>
              <a:rPr sz="1600" b="0" i="0">
                <a:solidFill>
                  <a:srgbClr val="63637E"/>
                </a:solidFill>
                <a:latin typeface="Calibri"/>
              </a:rPr>
              <a:t>Dockerfile, pinned requirements, config in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and use cases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54864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22959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17319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Find it by describing it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59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New team members ask "where is the retry logic?" instead of guessing file names. Works without knowing the identifiers.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72200" y="137160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Context step for code agents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46520" y="228600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An agent that edits or explains code needs the right few snippets first. This is that step, on its own, with latency measured per query.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822959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17319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Follow a function through releases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22959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Ask once and see which versions still match, and where the text changed. Useful for regression hunting and release notes.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72200" y="384048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6446520" y="41148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880" y="41148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1B3A"/>
                </a:solidFill>
                <a:latin typeface="Calibri"/>
              </a:rPr>
              <a:t>Runs where developers are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46520" y="4754880"/>
            <a:ext cx="4937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CPU only, a local cache, one config file. It fits on a laptop or in CI, with no GPU queue.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Rounded Rectangle 137"/>
          <p:cNvSpPr/>
          <p:nvPr/>
        </p:nvSpPr>
        <p:spPr>
          <a:xfrm>
            <a:off x="54864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822959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34340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61772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RESULTS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38160" y="1371600"/>
            <a:ext cx="3520440" cy="475488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412480" y="155448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2296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Two views of every question: the full text and just the narrative, since sample input and output hurt embeddings.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Code words for BM25: identifiers split into parts, plus comments and strings.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Standardised scores per query, so fusion weights mean the same for every query.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Text hashed once, embedded once: new versions cost only what changed.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617720" y="1965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NDCG@10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617720" y="2240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0.06959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31089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63637E"/>
                </a:solidFill>
                <a:latin typeface="Calibri"/>
              </a:rPr>
              <a:t>MRR@10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617720" y="33832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704EA6"/>
                </a:solidFill>
                <a:latin typeface="Calibri"/>
              </a:rPr>
              <a:t>0.05843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17720" y="4251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63637E"/>
                </a:solidFill>
                <a:latin typeface="Calibri"/>
              </a:rPr>
              <a:t>CoIR apps test split, full corpus: 8,765 documents, 3,765 queries. Whole run 3051.7 s on 24 CPU cores. Best of two models run on this split.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17720" y="516636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E1B3A"/>
                </a:solidFill>
                <a:latin typeface="Calibri"/>
              </a:rPr>
              <a:t>P1: a new version embeds only the functions that changed (8 of 36, then 7 of 38 on the sample repo).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0" y="196596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• The topic lexicon is a hand written keyword list, not a trained classifier.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JavaScript chunker is a brace matcher, not a full parser.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Questions about call order need a call graph. Not built.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The embedding model is third party and not fine tuned.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63637E"/>
                </a:solidFill>
                <a:latin typeface="Calibri"/>
              </a:rPr>
              <a:t>• Fusion weights were set by hand and not tuned.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54864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822959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874519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Small changes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59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cross encoder over the top 20 for a sharper final order.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Tune the fusion weights on a held out split. They are set by hand today.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Learn the topic tags from data.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34340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461772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Then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6928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Bigger changes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61772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tree-sitter chunkers for more languages.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Fine tune the embedder on code and question pairs.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Incremental BM25 so a new version skips the refit.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138160" y="1371600"/>
            <a:ext cx="3520440" cy="402336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unded Rectangle 152"/>
          <p:cNvSpPr/>
          <p:nvPr/>
        </p:nvSpPr>
        <p:spPr>
          <a:xfrm>
            <a:off x="8412480" y="1645920"/>
            <a:ext cx="868680" cy="365760"/>
          </a:xfrm>
          <a:prstGeom prst="roundRect">
            <a:avLst>
              <a:gd name="adj" fmla="val 50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Later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464040" y="1645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New capability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412480" y="2331720"/>
            <a:ext cx="30175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63637E"/>
                </a:solidFill>
                <a:latin typeface="Calibri"/>
              </a:rPr>
              <a:t>• A call graph beside the index, for questions about order and callers.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Git history as versions, straight from commits.</a:t>
            </a:r>
          </a:p>
          <a:p>
            <a:pPr algn="l">
              <a:spcBef>
                <a:spcPts val="1600"/>
              </a:spcBef>
            </a:pPr>
            <a:r>
              <a:rPr sz="1800" b="0" i="0">
                <a:solidFill>
                  <a:srgbClr val="63637E"/>
                </a:solidFill>
                <a:latin typeface="Calibri"/>
              </a:rPr>
              <a:t>• An agent tool interface so a code agent can call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points: what sets this apart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54864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77724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2588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Bonus goal, built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2588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Search one version or every version, with identical text folded and changes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72200" y="13716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6400800" y="1600200"/>
            <a:ext cx="365760" cy="365760"/>
          </a:xfrm>
          <a:prstGeom prst="ellipse">
            <a:avLst/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949440" y="15544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P1, measured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949440" y="20116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Only changed snippets are embedded. The reuse counts come from a cold cache run.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4864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77724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2588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Reproducible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2588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Pinned versions, a Dockerfile, and 19 tests that run with no internet.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172200" y="29718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6400800" y="32004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49440" y="31546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Honest reporting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949440" y="36118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We say the fusion weights were set by hand and not tuned, and how we worked around the to_dict bug in MTEB 2.21.9.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864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Four of five ideas used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2588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Query categories and preprocessing, snippet categories and cleaning, multiple retrieval passes.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172200" y="457200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6400800" y="4800600"/>
            <a:ext cx="365760" cy="365760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949440" y="4754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1E1B3A"/>
                </a:solidFill>
                <a:latin typeface="Calibri"/>
              </a:rPr>
              <a:t>One pipeline, three uses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212080"/>
            <a:ext cx="4480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63637E"/>
                </a:solidFill>
                <a:latin typeface="Calibri"/>
              </a:rPr>
              <a:t>The same code serves the benchmark, the versioned index and the command line demo.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32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Checklist: updated on public GitHub</a:t>
            </a:r>
            <a:endParaRPr/>
          </a:p>
        </p:txBody>
      </p:sp>
      <p:sp>
        <p:nvSpPr>
          <p:cNvPr id="156" name="Rounded Rectangle 155"/>
          <p:cNvSpPr/>
          <p:nvPr/>
        </p:nvSpPr>
        <p:spPr>
          <a:xfrm>
            <a:off x="548640" y="13716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777240" y="15453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554480" y="14264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Working prototype code, public or shared GitHub repo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766560" y="14264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https://github.com/pj4real/prism-code-retrieval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548640" y="219456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777240" y="236829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54480" y="224942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README with reproducible setup instructions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766560" y="224942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Setup, run, Docker and tests are in README.md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48640" y="301752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777240" y="319125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4480" y="307238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Demo video, max 5 minutes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766560" y="307238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https://drive.google.com/file/d/1FeSi1SZcfN0EnjjiQCgMNgergOchNoTL/view?usp=sharing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48640" y="384048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Rounded Rectangle 168"/>
          <p:cNvSpPr/>
          <p:nvPr/>
        </p:nvSpPr>
        <p:spPr>
          <a:xfrm>
            <a:off x="777240" y="401421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4480" y="389534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Presentation file (PPT or PDF)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766560" y="389534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In the repo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48640" y="466344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Rounded Rectangle 172"/>
          <p:cNvSpPr/>
          <p:nvPr/>
        </p:nvSpPr>
        <p:spPr>
          <a:xfrm>
            <a:off x="777240" y="483717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471830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MTEB results file in a GitHub release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766560" y="471830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appsretrieval_results.json, tag PRISM_GENAI_HACKATHON_Y2026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548640" y="5486400"/>
            <a:ext cx="11109960" cy="713232"/>
          </a:xfrm>
          <a:prstGeom prst="roundRect">
            <a:avLst>
              <a:gd name="adj" fmla="val 8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Rounded Rectangle 176"/>
          <p:cNvSpPr/>
          <p:nvPr/>
        </p:nvSpPr>
        <p:spPr>
          <a:xfrm>
            <a:off x="777240" y="5660136"/>
            <a:ext cx="548640" cy="365760"/>
          </a:xfrm>
          <a:prstGeom prst="roundRect">
            <a:avLst>
              <a:gd name="adj" fmla="val 50000"/>
            </a:avLst>
          </a:prstGeom>
          <a:solidFill>
            <a:srgbClr val="12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554480" y="5541264"/>
            <a:ext cx="5120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1E1B3A"/>
                </a:solidFill>
                <a:latin typeface="Calibri"/>
              </a:rPr>
              <a:t>AI disclosure form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766560" y="5541264"/>
            <a:ext cx="47548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63637E"/>
                </a:solidFill>
                <a:latin typeface="Calibri"/>
              </a:rPr>
              <a:t>Filled and submitted with the 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042415" y="4572000"/>
            <a:ext cx="7772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63637E"/>
                </a:solidFill>
                <a:latin typeface="Calibri"/>
              </a:rPr>
              <a:t>Procrastinators  |  Theme 1: Agentic Code Intelligence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63637E"/>
                </a:solidFill>
                <a:latin typeface="Calibri"/>
              </a:rPr>
              <a:t>Code: https://github.com/pj4real/prism-code-retrieval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1574</Words>
  <Application>Microsoft Office PowerPoint</Application>
  <PresentationFormat>Widescreen</PresentationFormat>
  <Paragraphs>203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PowerPoint Presentation</vt:lpstr>
      <vt:lpstr>Theme 1: Agentic Code Intelligence</vt:lpstr>
      <vt:lpstr>Existing solutions and their gaps</vt:lpstr>
      <vt:lpstr>Our solution and architecture</vt:lpstr>
      <vt:lpstr>Demo and product walkthrough</vt:lpstr>
      <vt:lpstr>Tools and tech stack</vt:lpstr>
      <vt:lpstr>Impact and use cases</vt:lpstr>
      <vt:lpstr>Innovation highlights, results and limitations</vt:lpstr>
      <vt:lpstr>What's next</vt:lpstr>
      <vt:lpstr>Brownie points: what sets this apart</vt:lpstr>
      <vt:lpstr>Checklist: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Navya ghatta</cp:lastModifiedBy>
  <cp:revision>1</cp:revision>
  <dcterms:created xsi:type="dcterms:W3CDTF">2026-09-07T12:01:01Z</dcterms:created>
  <dcterms:modified xsi:type="dcterms:W3CDTF">2026-09-30T16:56:09Z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